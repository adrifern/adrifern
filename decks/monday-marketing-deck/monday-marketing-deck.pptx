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the Monday 10:30 marketing meeting. Two parts: where paid stands, then how we build campaigns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cleanup and launch moves this week, plus the headline: roughly 5,800 a month of wasted spend cut and redirected to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Paid search drives the pipeline. Fill spend, leads, cost per lead and top campaign per market on Monday, plus three best keywords and the spotlight.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Social is the warm layer, not the pipeline driver. Fill spend, results, cost per result and audience per market on Monday, plus the warm audiences in 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 for the room. Top two channels, never number one. Cost-to-acquire figures are optional and high level only; the deep numbers are in tomorrow's monthly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Part B. Aimed at growth teams, everyone listens.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layers, one thread. The theme name connects everything in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is performance-owned and collaborative. Social is growth-commissioned, performance-built. You own the HubSpot campaign. One request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pre-launch checks. Enabling framing: if something is missing, we sort it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form, 3 to 5 working days, and the seven inputs needed to build it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payoff: set it up right once and it shows up everywhere, including the campaigns that earn more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97680"/>
            <a:ext cx="3108960" cy="3108960"/>
          </a:xfrm>
          <a:prstGeom prst="ellipse">
            <a:avLst/>
          </a:prstGeom>
          <a:solidFill>
            <a:srgbClr val="1F9E7F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5212080"/>
            <a:ext cx="2377440" cy="2377440"/>
          </a:xfrm>
          <a:prstGeom prst="ellipse">
            <a:avLst/>
          </a:prstGeom>
          <a:solidFill>
            <a:srgbClr val="D78A27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and campaigns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34015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results, and how we build together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meeting, Monday 29 June 2026</a:t>
            </a:r>
            <a:pPr algn="l" indent="0" marL="0">
              <a:buNone/>
            </a:pPr>
            <a:r>
              <a:rPr lang="en-US" sz="1250" dirty="0">
                <a:solidFill>
                  <a:srgbClr val="7F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Mapal OS, internal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paid stands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8132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F9E7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51" y="1638239"/>
            <a:ext cx="289682" cy="2896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888" y="1417320"/>
            <a:ext cx="6108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up the ad estate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off campaigns running with no tracking or no results across Microsoft, Meta, the Nordics and old LinkedIn France campaigns.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67004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F9E7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1" y="2826959"/>
            <a:ext cx="289682" cy="2896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9888" y="2606040"/>
            <a:ext cx="6108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demo form tracking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now records correctly in the UK, Spain and France.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385876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D78A2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1" y="4015679"/>
            <a:ext cx="289682" cy="2896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89888" y="3794760"/>
            <a:ext cx="6108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the new French Flow search campaigns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non-brand, now live.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5047488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D78A2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51" y="5204399"/>
            <a:ext cx="289682" cy="2896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89888" y="4983480"/>
            <a:ext cx="61081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wasted spend back at pipeline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budget now sits behind what brings in leads.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7955280" y="1554480"/>
            <a:ext cx="3703320" cy="3657600"/>
          </a:xfrm>
          <a:prstGeom prst="roundRect">
            <a:avLst>
              <a:gd name="adj" fmla="val 3000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7955280" y="1874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9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SPEND CUT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955280" y="228600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~5,800</a:t>
            </a:r>
            <a:endParaRPr lang="en-US" sz="8000" dirty="0"/>
          </a:p>
        </p:txBody>
      </p:sp>
      <p:sp>
        <p:nvSpPr>
          <p:cNvPr id="18" name="Text 12"/>
          <p:cNvSpPr/>
          <p:nvPr/>
        </p:nvSpPr>
        <p:spPr>
          <a:xfrm>
            <a:off x="7955280" y="38404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reinvested into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brings in pipeline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algn="l" indent="0" marL="0">
              <a:buNone/>
            </a:pPr>
            <a:r>
              <a:rPr lang="en-US" sz="125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PERIOD ]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9143771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691640"/>
                <a:gridCol w="1874520"/>
                <a:gridCol w="1874520"/>
                <a:gridCol w="22677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/ MQLs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lead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theme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[IB_LEADS_1]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[IB_CPL_1]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[IB_THEME_1]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[IB_LEADS_2]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[IB_CPL_2]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[IB_THEME_2]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[IB_LEADS_3]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[IB_CPL_3]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[IB_THEME_3]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[UK_LEADS_1]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[UK_CPL_1]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[UK_THEME_1]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[UK_LEADS_2]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[UK_CPL_2]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[UK_THEME_2]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[UK_LEADS_3]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[UK_CPL_3]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[UK_THEME_3]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9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[FR_LEADS_1]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[FR_CPL_1]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[FR_THEME_1]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[FR_LEADS_2]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[FR_CPL_2]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[FR_THEME_2]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[FR_LEADS_3]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[FR_CPL_3]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[FR_THEME_3]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live campaign, grouped by region. Replace the bracketed values with Monday figures, and add or remove rows per region as needed.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pPr algn="l" indent="0" marL="0">
              <a:buNone/>
            </a:pPr>
            <a:r>
              <a:rPr lang="en-US" sz="125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PERIOD ]</a:t>
            </a:r>
            <a:pPr algn="l" indent="0" marL="0">
              <a:buNone/>
            </a:pPr>
            <a:r>
              <a:rPr lang="en-US" sz="12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LinkedIn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9143771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91640"/>
                <a:gridCol w="1737360"/>
                <a:gridCol w="2011680"/>
                <a:gridCol w="24505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5C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[IB_SOC_RES_1]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[IB_SOC_CPR_1]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[IB_SOC_AUD_1]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[IB_SOC_RES_2]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[IB_SOC_CPR_2]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[IB_SOC_AUD_2]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[IB_SOC_RES_3]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[IB_SOC_CPR_3]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[IB_SOC_AUD_3]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[UK_SOC_RES_1]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[UK_SOC_CPR_1]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[UK_SOC_AUD_1]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[UK_SOC_RES_2]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[UK_SOC_CPR_2]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[UK_SOC_AUD_2]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[UK_SOC_RES_3]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[UK_SOC_CPR_3]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[UK_SOC_AUD_3]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[FR_SOC_CAMP_1]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[FR_SOC_SPEND_1]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[FR_SOC_RES_1]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[FR_SOC_CPR_1]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[FR_SOC_AUD_1]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[FR_SOC_CAMP_2]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[FR_SOC_SPEND_2]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[FR_SOC_RES_2]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[FR_SOC_CPR_2]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[FR_SOC_AUD_2]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[FR_SOC_CAMP_3]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[FR_SOC_SPEND_3]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[FR_SOC_RES_3]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[FR_SOC_CPR_3]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8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[FR_SOC_AUD_3]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EAF6F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80644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drives the pipeline. Social is for warm retargeting and nurture.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paid brings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EAF6F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198571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7160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is one of our top two channels by closed-won deals.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172200" y="137160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BF1E0"/>
          </a:solidFill>
          <a:ln/>
        </p:spPr>
      </p:sp>
      <p:sp>
        <p:nvSpPr>
          <p:cNvPr id="8" name="Shape 5"/>
          <p:cNvSpPr/>
          <p:nvPr/>
        </p:nvSpPr>
        <p:spPr>
          <a:xfrm>
            <a:off x="6446520" y="182880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431" y="198571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9480" y="137160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pays back over the customer life.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548640" y="3154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acquire, high level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COST_PER_LEAD ]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54864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lead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97680" y="35204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16" name="Text 12"/>
          <p:cNvSpPr/>
          <p:nvPr/>
        </p:nvSpPr>
        <p:spPr>
          <a:xfrm>
            <a:off x="4297680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COST_PER_OPP ]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429768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opportunity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46720" y="35204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</p:sp>
      <p:sp>
        <p:nvSpPr>
          <p:cNvPr id="19" name="Text 15"/>
          <p:cNvSpPr/>
          <p:nvPr/>
        </p:nvSpPr>
        <p:spPr>
          <a:xfrm>
            <a:off x="8046720" y="3657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COST_PER_WON ]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8046720" y="42245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" y="4937760"/>
            <a:ext cx="11064240" cy="841248"/>
          </a:xfrm>
          <a:prstGeom prst="roundRect">
            <a:avLst>
              <a:gd name="adj" fmla="val 10870"/>
            </a:avLst>
          </a:prstGeom>
          <a:solidFill>
            <a:srgbClr val="16235C"/>
          </a:solidFill>
          <a:ln/>
        </p:spPr>
      </p:sp>
      <p:sp>
        <p:nvSpPr>
          <p:cNvPr id="22" name="Text 18"/>
          <p:cNvSpPr/>
          <p:nvPr/>
        </p:nvSpPr>
        <p:spPr>
          <a:xfrm>
            <a:off x="822960" y="493776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3x.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brings in pipeline at roughly three times the rate of paid social.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monthly PPC KPI report lands Tuesday, so this is the lighter status view.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1F9E7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754880"/>
            <a:ext cx="2926080" cy="2926080"/>
          </a:xfrm>
          <a:prstGeom prst="ellipse">
            <a:avLst/>
          </a:prstGeom>
          <a:solidFill>
            <a:srgbClr val="D78A2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 campaigns together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the request path, and what every campaign needs.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 sits in one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maps to one approved theme, named [REGION]-[ICP]-[THEME].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623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871" y="216859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60020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big-rock priority it ladders up to.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201168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F9E7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871" y="216859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0020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(theme)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ongoing initiative. [REGION]-[ICP]-[THEME].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2960" y="370332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D78A2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" y="3860231"/>
            <a:ext cx="289682" cy="28968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2918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or source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reach them: paid social, paid search, email, events.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63640" y="32918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537960" y="3703320"/>
            <a:ext cx="603504" cy="603504"/>
          </a:xfrm>
          <a:prstGeom prst="roundRect">
            <a:avLst>
              <a:gd name="adj" fmla="val 12121"/>
            </a:avLst>
          </a:prstGeom>
          <a:solidFill>
            <a:srgbClr val="16235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71" y="3860231"/>
            <a:ext cx="289682" cy="28968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3291840"/>
            <a:ext cx="4114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feature</a:t>
            </a:r>
            <a:endParaRPr lang="en-US" sz="14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ads, scoring and workflows that capture and report it.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6F2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62356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9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matters.  </a:t>
            </a:r>
            <a:pPr algn="l"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name is the thread that ties spend, leads and pipeline together. If the theme is missing or wrong, the campaign will not show up in reporting.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EAF6F2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099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1F9E7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76349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282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owns search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Evergreen, always-on search sits with performance all year. Beyond that it is collaborative: you bring the keywords, we build and optimise. Requests fold into the shared evergreen campaigns so the data compounds.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FBF1E0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09928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D78A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876349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06640" y="172821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teams commission paid social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2468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campaigns plus event and content bursts. You bring the brief and assets, performance builds it and wires up the tracking.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977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4F7FA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397764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HubSpot campaign.  </a:t>
            </a:r>
            <a:pPr algn="l" indent="0" marL="0"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 for your initiative, named to the theme. Performance links the paid UTMs and leads, so it stays yours.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48463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9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 path for everything: the PPC Campaign Request form.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every campaign needs before it goes live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75304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47672" y="182880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F9E7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4" y="20308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7889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conversion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it drives is set up and firing. Verified before launch, not after.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306824" y="1417320"/>
            <a:ext cx="3575304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05856" y="182880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D78A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38" y="20308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5424" y="27889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tracked form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81144" y="32918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landing page with a HubSpot form that captures the UTM hidden fields. No 404s, no redirects.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65008" y="1417320"/>
            <a:ext cx="3575304" cy="292608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/>
          <a:effectLst>
            <a:outerShdw sx="100000" sy="100000" kx="0" ky="0" algn="bl" rotWithShape="0" blurRad="114300" dist="38100" dir="5400000">
              <a:srgbClr val="9AA7B4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64040" y="182880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1623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122" y="203088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93608" y="27889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UTM link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39328" y="32918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the HubSpot URL Builder to the naming standard, not hand-typed or numeric.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617720"/>
            <a:ext cx="11091672" cy="914400"/>
          </a:xfrm>
          <a:prstGeom prst="roundRect">
            <a:avLst>
              <a:gd name="adj" fmla="val 10000"/>
            </a:avLst>
          </a:prstGeom>
          <a:solidFill>
            <a:srgbClr val="EAF6F2"/>
          </a:solidFill>
          <a:ln/>
        </p:spPr>
      </p:sp>
      <p:sp>
        <p:nvSpPr>
          <p:cNvPr id="19" name="Text 14"/>
          <p:cNvSpPr/>
          <p:nvPr/>
        </p:nvSpPr>
        <p:spPr>
          <a:xfrm>
            <a:off x="822960" y="46177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these three are set, the campaign launches clean and reports properly. If one is missing, we sort it together before going live.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request a campaign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0" cy="4206240"/>
          </a:xfrm>
          <a:prstGeom prst="roundRect">
            <a:avLst>
              <a:gd name="adj" fmla="val 2609"/>
            </a:avLst>
          </a:prstGeom>
          <a:solidFill>
            <a:srgbClr val="16235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9659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F9E7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1561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926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via the PPC Campaign Request form.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needs </a:t>
            </a:r>
            <a:pPr algn="l" indent="0" marL="0">
              <a:buNone/>
            </a:pPr>
            <a:r>
              <a:rPr lang="en-US" sz="1600" b="1" dirty="0">
                <a:solidFill>
                  <a:srgbClr val="D78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working days</a:t>
            </a:r>
            <a:pPr algn="l" indent="0" marL="0">
              <a:buNone/>
            </a:pPr>
            <a:r>
              <a:rPr lang="en-US" sz="1600" dirty="0">
                <a:solidFill>
                  <a:srgbClr val="C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your deadline.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120640" y="1554480"/>
            <a:ext cx="6519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provide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120640" y="2103120"/>
            <a:ext cx="6519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product and ICP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theme it maps to, from the approved list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and the conversion it should drive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landing page URL, with a HubSpot form on it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routing: nurture, SDR, or both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and copy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914400"/>
            <a:ext cx="3108960" cy="3108960"/>
          </a:xfrm>
          <a:prstGeom prst="ellipse">
            <a:avLst/>
          </a:prstGeom>
          <a:solidFill>
            <a:srgbClr val="1F9E7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D78A27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31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structure. Consistent setup. Better reporting.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703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F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right at the request and it shows up everywhere it should: the Monday snapshot, pipeline, and the campaigns that earn more budget.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F8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Mapal OS, internal.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Paid media and campaigns</dc:title>
  <dc:subject>PptxGenJS Presentation</dc:subject>
  <dc:creator>Marketing</dc:creator>
  <cp:lastModifiedBy>Marketing</cp:lastModifiedBy>
  <cp:revision>1</cp:revision>
  <dcterms:created xsi:type="dcterms:W3CDTF">2026-06-29T08:28:30Z</dcterms:created>
  <dcterms:modified xsi:type="dcterms:W3CDTF">2026-06-29T08:28:30Z</dcterms:modified>
</cp:coreProperties>
</file>