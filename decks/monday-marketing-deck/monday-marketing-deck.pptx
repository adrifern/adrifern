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1F9E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UK</c:v>
                  </c:pt>
                  <c:pt idx="1">
                    <c:v>Spain</c:v>
                  </c:pt>
                  <c:pt idx="2">
                    <c:v>France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</c:v>
                </c:pt>
                <c:pt idx="1">
                  <c:v>800</c:v>
                </c:pt>
                <c:pt idx="2">
                  <c:v>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7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D78A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UK / EN</c:v>
                  </c:pt>
                  <c:pt idx="1">
                    <c:v>Spain</c:v>
                  </c:pt>
                  <c:pt idx="2">
                    <c:v>France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600</c:v>
                </c:pt>
                <c:pt idx="1">
                  <c:v>450</c:v>
                </c:pt>
                <c:pt idx="2">
                  <c:v>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7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slide for the Monday 10:30 marketing meeting. Two parts: where paid stands, then how we build campaigns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cleanup and launch moves this week, plus the headline: roughly 5,800 a month of wasted spend cut and redirected to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Paid search drives the pipeline. Fill spend, leads, cost per lead and top campaign per market on Monday, plus three best keywords and the spotlight.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Social is the warm layer, not the pipeline driver. Fill spend, results, cost per result and audience per market on Monday, plus the warm audiences in 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light for the room. Top two channels, never number one. Cost-to-acquire figures are optional and high level only; the deep numbers are in tomorrow's monthly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Part B. Aimed at growth teams, everyone listens.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layers, one thread. The theme name connects everything in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is performance-owned and collaborative. Social is growth-commissioned, performance-built. You own the HubSpot campaign. One request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pre-launch checks. Enabling framing: if something is missing, we sort it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form, 3 to 5 working days, and the seven inputs needed to build it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payoff: set it up right once and it shows up everywhere, including the campaigns that earn more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97680"/>
            <a:ext cx="3108960" cy="3108960"/>
          </a:xfrm>
          <a:prstGeom prst="ellipse">
            <a:avLst/>
          </a:prstGeom>
          <a:solidFill>
            <a:srgbClr val="1F9E7F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5212080"/>
            <a:ext cx="2377440" cy="2377440"/>
          </a:xfrm>
          <a:prstGeom prst="ellipse">
            <a:avLst/>
          </a:prstGeom>
          <a:solidFill>
            <a:srgbClr val="D78A27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media and campaigns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40156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F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results, and how we build together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59893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meeting, Monday 29 June 2026</a:t>
            </a:r>
            <a:pPr algn="l" indent="0" marL="0">
              <a:buNone/>
            </a:pPr>
            <a:r>
              <a:rPr lang="en-US" sz="1250" dirty="0">
                <a:solidFill>
                  <a:srgbClr val="7F8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Mapal OS, internal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paid stands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132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F9E7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551" y="1638239"/>
            <a:ext cx="289682" cy="28968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89888" y="1417320"/>
            <a:ext cx="61081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up the ad estate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off campaigns running with no tracking or no results across Microsoft, Meta, the Nordics and old LinkedIn France campaigns.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6700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F9E7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551" y="2826959"/>
            <a:ext cx="289682" cy="28968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89888" y="2606040"/>
            <a:ext cx="61081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the demo form tracking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now records correctly in the UK, Spain and France.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385876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D78A27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51" y="4015679"/>
            <a:ext cx="289682" cy="28968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89888" y="3794760"/>
            <a:ext cx="61081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the new French Flow search campaigns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non-brand, now live.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548640" y="504748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D78A27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1" y="5204399"/>
            <a:ext cx="289682" cy="28968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89888" y="4983480"/>
            <a:ext cx="61081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Pointed wasted spend back at pipeline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budget now sits behind what brings in leads.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7955280" y="1554480"/>
            <a:ext cx="3703320" cy="3657600"/>
          </a:xfrm>
          <a:prstGeom prst="roundRect">
            <a:avLst>
              <a:gd name="adj" fmla="val 3000"/>
            </a:avLst>
          </a:prstGeom>
          <a:solidFill>
            <a:srgbClr val="EAF6F2"/>
          </a:solidFill>
          <a:ln/>
          <a:effectLst>
            <a:outerShdw sx="100000" sy="100000" kx="0" ky="0" algn="bl" rotWithShape="0" blurRad="114300" dist="38100" dir="5400000">
              <a:srgbClr val="9AA7B4">
                <a:alpha val="25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7955280" y="18745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F9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SPEND CUT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7955280" y="228600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~5,800</a:t>
            </a:r>
            <a:endParaRPr lang="en-US" sz="8000" dirty="0"/>
          </a:p>
        </p:txBody>
      </p:sp>
      <p:sp>
        <p:nvSpPr>
          <p:cNvPr id="18" name="Text 12"/>
          <p:cNvSpPr/>
          <p:nvPr/>
        </p:nvSpPr>
        <p:spPr>
          <a:xfrm>
            <a:off x="7955280" y="384048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reinvested into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brings in pipeline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search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</a:t>
            </a:r>
            <a:pPr algn="l" indent="0" marL="0">
              <a:buNone/>
            </a:pPr>
            <a:r>
              <a:rPr lang="en-US" sz="125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PERIOD ]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9143771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25880"/>
                <a:gridCol w="1508760"/>
                <a:gridCol w="1417320"/>
                <a:gridCol w="1783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/ MQLs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lead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campaign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[SPEND_UK]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[LEADS_UK]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[CPL_UK]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[TOPCAMP_UK]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[SPEND_ES]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[LEADS_ES]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[CPL_ES]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[TOPCAMP_ES]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[SPEND_FR]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[LEADS_FR]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[CPL_FR]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[TOPCAMP_FR]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8862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keywords or themes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251960"/>
            <a:ext cx="2240280" cy="457200"/>
          </a:xfrm>
          <a:prstGeom prst="roundRect">
            <a:avLst>
              <a:gd name="adj" fmla="val 20000"/>
            </a:avLst>
          </a:prstGeom>
          <a:solidFill>
            <a:srgbClr val="EAF6F2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251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KEYWORD_1 ]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953512" y="4251960"/>
            <a:ext cx="2240280" cy="457200"/>
          </a:xfrm>
          <a:prstGeom prst="roundRect">
            <a:avLst>
              <a:gd name="adj" fmla="val 20000"/>
            </a:avLst>
          </a:prstGeom>
          <a:solidFill>
            <a:srgbClr val="EAF6F2"/>
          </a:solidFill>
          <a:ln/>
        </p:spPr>
      </p:sp>
      <p:sp>
        <p:nvSpPr>
          <p:cNvPr id="9" name="Text 6"/>
          <p:cNvSpPr/>
          <p:nvPr/>
        </p:nvSpPr>
        <p:spPr>
          <a:xfrm>
            <a:off x="2953512" y="4251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KEYWORD_2 ]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58384" y="4251960"/>
            <a:ext cx="2240280" cy="457200"/>
          </a:xfrm>
          <a:prstGeom prst="roundRect">
            <a:avLst>
              <a:gd name="adj" fmla="val 20000"/>
            </a:avLst>
          </a:prstGeom>
          <a:solidFill>
            <a:srgbClr val="EAF6F2"/>
          </a:solidFill>
          <a:ln/>
        </p:spPr>
      </p:sp>
      <p:sp>
        <p:nvSpPr>
          <p:cNvPr id="11" name="Text 8"/>
          <p:cNvSpPr/>
          <p:nvPr/>
        </p:nvSpPr>
        <p:spPr>
          <a:xfrm>
            <a:off x="5358384" y="4251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KEYWORD_3 ]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7040880" cy="1234440"/>
          </a:xfrm>
          <a:prstGeom prst="roundRect">
            <a:avLst>
              <a:gd name="adj" fmla="val 7407"/>
            </a:avLst>
          </a:prstGeom>
          <a:solidFill>
            <a:srgbClr val="FBF1E0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1023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SPOTLIGHT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77240" y="53949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SPOTLIGHT_DESC ]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</a:t>
            </a:r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SPOTLIGHT_AUDIENCE ]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955280" y="146304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by market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7863840" y="1828800"/>
          <a:ext cx="3840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3"/>
          <p:cNvSpPr/>
          <p:nvPr/>
        </p:nvSpPr>
        <p:spPr>
          <a:xfrm>
            <a:off x="7955280" y="51389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values. Replace with Monday figures.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</a:t>
            </a:r>
            <a:pPr algn="l" indent="0" marL="0">
              <a:buNone/>
            </a:pPr>
            <a:r>
              <a:rPr lang="en-US" sz="125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PERIOD ]</a:t>
            </a:r>
            <a:pPr algn="l" indent="0" marL="0">
              <a:buNone/>
            </a:pPr>
            <a:r>
              <a:rPr lang="en-US" sz="125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LinkedIn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9143771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554480"/>
                <a:gridCol w="1371600"/>
                <a:gridCol w="155448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result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 / 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[SOC_SPEND_UK]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[SOC_RES_UK]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[SOC_CPR_UK]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[SOC_AUD_UK]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[SOC_SPEND_ES]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[SOC_RES_ES]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[SOC_CPR_ES]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[SOC_AUD_ES]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[SOC_SPEND_FR]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[SOC_RES_FR]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[SOC_CPR_FR]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78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[SOC_AUD_FR]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8862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audiences in play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251960"/>
            <a:ext cx="7040880" cy="548640"/>
          </a:xfrm>
          <a:prstGeom prst="roundRect">
            <a:avLst>
              <a:gd name="adj" fmla="val 16667"/>
            </a:avLst>
          </a:prstGeom>
          <a:solidFill>
            <a:srgbClr val="FBF1E0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25196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WARM_AUDIENCES ]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5074920"/>
            <a:ext cx="7040880" cy="914400"/>
          </a:xfrm>
          <a:prstGeom prst="roundRect">
            <a:avLst>
              <a:gd name="adj" fmla="val 10000"/>
            </a:avLst>
          </a:prstGeom>
          <a:solidFill>
            <a:srgbClr val="EAF6F2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50749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drives the pipeline. Social is for warm retargeting and nurture.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955280" y="146304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spend by market</a:t>
            </a:r>
            <a:endParaRPr lang="en-US" sz="13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863840" y="1828800"/>
          <a:ext cx="3840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8"/>
          <p:cNvSpPr/>
          <p:nvPr/>
        </p:nvSpPr>
        <p:spPr>
          <a:xfrm>
            <a:off x="7955280" y="51389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values. Replace with Monday figures.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paid brings 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AF6F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2880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1985711"/>
            <a:ext cx="289682" cy="2896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37160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is one of our top two channels by closed-won deals.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6172200" y="137160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F1E0"/>
          </a:solidFill>
          <a:ln/>
        </p:spPr>
      </p:sp>
      <p:sp>
        <p:nvSpPr>
          <p:cNvPr id="8" name="Shape 5"/>
          <p:cNvSpPr/>
          <p:nvPr/>
        </p:nvSpPr>
        <p:spPr>
          <a:xfrm>
            <a:off x="6446520" y="182880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431" y="1985711"/>
            <a:ext cx="289682" cy="28968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269480" y="137160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pays back over the customer life.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548640" y="3154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acquire, high level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5204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F4F7FA"/>
          </a:solidFill>
          <a:ln/>
        </p:spPr>
      </p:sp>
      <p:sp>
        <p:nvSpPr>
          <p:cNvPr id="13" name="Text 9"/>
          <p:cNvSpPr/>
          <p:nvPr/>
        </p:nvSpPr>
        <p:spPr>
          <a:xfrm>
            <a:off x="548640" y="3657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COST_PER_LEAD ]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48640" y="42245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lead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297680" y="35204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F4F7FA"/>
          </a:solidFill>
          <a:ln/>
        </p:spPr>
      </p:sp>
      <p:sp>
        <p:nvSpPr>
          <p:cNvPr id="16" name="Text 12"/>
          <p:cNvSpPr/>
          <p:nvPr/>
        </p:nvSpPr>
        <p:spPr>
          <a:xfrm>
            <a:off x="4297680" y="3657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COST_PER_OPP ]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4297680" y="42245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opportunity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46720" y="35204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F4F7FA"/>
          </a:solidFill>
          <a:ln/>
        </p:spPr>
      </p:sp>
      <p:sp>
        <p:nvSpPr>
          <p:cNvPr id="19" name="Text 15"/>
          <p:cNvSpPr/>
          <p:nvPr/>
        </p:nvSpPr>
        <p:spPr>
          <a:xfrm>
            <a:off x="8046720" y="3657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COST_PER_WON ]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046720" y="42245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customer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48640" y="4937760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16235C"/>
          </a:solidFill>
          <a:ln/>
        </p:spPr>
      </p:sp>
      <p:sp>
        <p:nvSpPr>
          <p:cNvPr id="22" name="Text 18"/>
          <p:cNvSpPr/>
          <p:nvPr/>
        </p:nvSpPr>
        <p:spPr>
          <a:xfrm>
            <a:off x="822960" y="4937760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3x.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search brings in pipeline at roughly three times the rate of paid social.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monthly PPC KPI report lands Tuesday, so this is the lighter status view.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3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3291840" cy="3291840"/>
          </a:xfrm>
          <a:prstGeom prst="ellipse">
            <a:avLst/>
          </a:prstGeom>
          <a:solidFill>
            <a:srgbClr val="1F9E7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754880"/>
            <a:ext cx="2926080" cy="2926080"/>
          </a:xfrm>
          <a:prstGeom prst="ellipse">
            <a:avLst/>
          </a:prstGeom>
          <a:solidFill>
            <a:srgbClr val="D78A27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6060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build campaigns together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6118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the request path, and what every campaign needs.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campaign sits in one structure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maps to one approved theme, named [REGION]-[ICP]-[THEME].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A"/>
          </a:solidFill>
          <a:ln/>
          <a:effectLst>
            <a:outerShdw sx="100000" sy="100000" kx="0" ky="0" algn="bl" rotWithShape="0" blurRad="114300" dist="38100" dir="5400000">
              <a:srgbClr val="9AA7B4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623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2168591"/>
            <a:ext cx="289682" cy="2896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60020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objective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big-rock priority it ladders up to.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60020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A"/>
          </a:solidFill>
          <a:ln/>
          <a:effectLst>
            <a:outerShdw sx="100000" sy="100000" kx="0" ky="0" algn="bl" rotWithShape="0" blurRad="114300" dist="38100" dir="5400000">
              <a:srgbClr val="9AA7B4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F9E7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871" y="2168591"/>
            <a:ext cx="289682" cy="28968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60920" y="160020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(theme)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ongoing initiative. [REGION]-[ICP]-[THEME].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32918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A"/>
          </a:solidFill>
          <a:ln/>
          <a:effectLst>
            <a:outerShdw sx="100000" sy="100000" kx="0" ky="0" algn="bl" rotWithShape="0" blurRad="114300" dist="38100" dir="5400000">
              <a:srgbClr val="9AA7B4">
                <a:alpha val="2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22960" y="37033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D78A27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871" y="3860231"/>
            <a:ext cx="289682" cy="28968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45920" y="32918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or source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reach them: paid social, paid search, email, events.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263640" y="32918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A"/>
          </a:solidFill>
          <a:ln/>
          <a:effectLst>
            <a:outerShdw sx="100000" sy="100000" kx="0" ky="0" algn="bl" rotWithShape="0" blurRad="114300" dist="38100" dir="5400000">
              <a:srgbClr val="9AA7B4">
                <a:alpha val="2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537960" y="37033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6235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871" y="3860231"/>
            <a:ext cx="289682" cy="28968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360920" y="32918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HubSpot feature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Forms, ads, scoring and workflows that capture and report it.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562356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EAF6F2"/>
          </a:solidFill>
          <a:ln/>
        </p:spPr>
      </p:sp>
      <p:sp>
        <p:nvSpPr>
          <p:cNvPr id="21" name="Text 15"/>
          <p:cNvSpPr/>
          <p:nvPr/>
        </p:nvSpPr>
        <p:spPr>
          <a:xfrm>
            <a:off x="822960" y="562356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9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matters.  </a:t>
            </a:r>
            <a:pPr algn="l" indent="0" marL="0"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theme name is the thread that ties spend, leads and pipeline together. If the theme is missing or wrong, the campaign will not show up in reporting.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what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EAF6F2"/>
          </a:solidFill>
          <a:ln/>
          <a:effectLst>
            <a:outerShdw sx="100000" sy="100000" kx="0" ky="0" algn="bl" rotWithShape="0" blurRad="114300" dist="38100" dir="5400000">
              <a:srgbClr val="9AA7B4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09928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F9E7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876349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728216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owns search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46888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Evergreen, always-on search sits with performance all year. Beyond that it is collaborative: you bring the keywords, we build and optimise. Requests fold into the shared evergreen campaigns so the data compounds.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14173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BF1E0"/>
          </a:solidFill>
          <a:ln/>
          <a:effectLst>
            <a:outerShdw sx="100000" sy="100000" kx="0" ky="0" algn="bl" rotWithShape="0" blurRad="114300" dist="38100" dir="5400000">
              <a:srgbClr val="9AA7B4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1709928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D78A2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101" y="1876349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06640" y="1728216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teams commission paid social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83680" y="246888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campaigns plus event and content bursts. You bring the brief and assets, performance builds it and wires up the tracking.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3977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4F7FA"/>
          </a:solidFill>
          <a:ln/>
        </p:spPr>
      </p:sp>
      <p:sp>
        <p:nvSpPr>
          <p:cNvPr id="14" name="Text 10"/>
          <p:cNvSpPr/>
          <p:nvPr/>
        </p:nvSpPr>
        <p:spPr>
          <a:xfrm>
            <a:off x="822960" y="397764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HubSpot campaign.  </a:t>
            </a:r>
            <a:pPr algn="l" indent="0" marL="0"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it for your initiative, named to the theme. Performance links the paid UTMs and leads, so it stays yours.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4846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9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path for everything: the PPC Campaign Request form.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every campaign needs before it goes live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75304" cy="2926080"/>
          </a:xfrm>
          <a:prstGeom prst="roundRect">
            <a:avLst>
              <a:gd name="adj" fmla="val 3750"/>
            </a:avLst>
          </a:prstGeom>
          <a:solidFill>
            <a:srgbClr val="F4F7FA"/>
          </a:solidFill>
          <a:ln/>
          <a:effectLst>
            <a:outerShdw sx="100000" sy="100000" kx="0" ky="0" algn="bl" rotWithShape="0" blurRad="114300" dist="38100" dir="5400000">
              <a:srgbClr val="9AA7B4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4767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rgbClr val="1F9E7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9754" y="2030882"/>
            <a:ext cx="373075" cy="3730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788920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conversion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2918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it drives is set up and firing. Verified before launch, not after.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06824" y="1417320"/>
            <a:ext cx="3575304" cy="2926080"/>
          </a:xfrm>
          <a:prstGeom prst="roundRect">
            <a:avLst>
              <a:gd name="adj" fmla="val 3750"/>
            </a:avLst>
          </a:prstGeom>
          <a:solidFill>
            <a:srgbClr val="F4F7FA"/>
          </a:solidFill>
          <a:ln/>
          <a:effectLst>
            <a:outerShdw sx="100000" sy="100000" kx="0" ky="0" algn="bl" rotWithShape="0" blurRad="114300" dist="38100" dir="5400000">
              <a:srgbClr val="9AA7B4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705856" y="1828800"/>
            <a:ext cx="777240" cy="777240"/>
          </a:xfrm>
          <a:prstGeom prst="roundRect">
            <a:avLst>
              <a:gd name="adj" fmla="val 9412"/>
            </a:avLst>
          </a:prstGeom>
          <a:solidFill>
            <a:srgbClr val="D78A2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938" y="2030882"/>
            <a:ext cx="373075" cy="37307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35424" y="2788920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tracked form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581144" y="32918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landing page with a HubSpot form that captures the UTM hidden fields. No 404s, no redirects.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065008" y="1417320"/>
            <a:ext cx="3575304" cy="2926080"/>
          </a:xfrm>
          <a:prstGeom prst="roundRect">
            <a:avLst>
              <a:gd name="adj" fmla="val 3750"/>
            </a:avLst>
          </a:prstGeom>
          <a:solidFill>
            <a:srgbClr val="F4F7FA"/>
          </a:solidFill>
          <a:ln/>
          <a:effectLst>
            <a:outerShdw sx="100000" sy="100000" kx="0" ky="0" algn="bl" rotWithShape="0" blurRad="114300" dist="38100" dir="5400000">
              <a:srgbClr val="9AA7B4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464040" y="1828800"/>
            <a:ext cx="777240" cy="777240"/>
          </a:xfrm>
          <a:prstGeom prst="roundRect">
            <a:avLst>
              <a:gd name="adj" fmla="val 9412"/>
            </a:avLst>
          </a:prstGeom>
          <a:solidFill>
            <a:srgbClr val="16235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6122" y="2030882"/>
            <a:ext cx="373075" cy="37307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93608" y="2788920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UTM link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8339328" y="329184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the HubSpot URL Builder to the naming standard, not hand-typed or numeric.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548640" y="461772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EAF6F2"/>
          </a:solidFill>
          <a:ln/>
        </p:spPr>
      </p:sp>
      <p:sp>
        <p:nvSpPr>
          <p:cNvPr id="19" name="Text 14"/>
          <p:cNvSpPr/>
          <p:nvPr/>
        </p:nvSpPr>
        <p:spPr>
          <a:xfrm>
            <a:off x="822960" y="461772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these three are set, the campaign launches clean and reports properly. If one is missing, we sort it together before going live.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request a campaign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206240" cy="4206240"/>
          </a:xfrm>
          <a:prstGeom prst="roundRect">
            <a:avLst>
              <a:gd name="adj" fmla="val 2609"/>
            </a:avLst>
          </a:prstGeom>
          <a:solidFill>
            <a:srgbClr val="16235C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F9E7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21561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9260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via the PPC Campaign Request form.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14400" y="44805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needs </a:t>
            </a:r>
            <a:pPr algn="l" indent="0" marL="0">
              <a:buNone/>
            </a:pPr>
            <a:r>
              <a:rPr lang="en-US" sz="1600" b="1" dirty="0">
                <a:solidFill>
                  <a:srgbClr val="D78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to 5 working days</a:t>
            </a:r>
            <a:pPr algn="l" indent="0" marL="0">
              <a:buNone/>
            </a:pPr>
            <a:r>
              <a:rPr lang="en-US" sz="1600" dirty="0">
                <a:solidFill>
                  <a:srgbClr val="CF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your deadline.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120640" y="1554480"/>
            <a:ext cx="6519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62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provide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120640" y="2103120"/>
            <a:ext cx="6519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Market, product and ICP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theme it maps to, from the approved list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and the conversion it should drive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landing page URL, with a HubSpot form on it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routing: nurture, SDR, or both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and copy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914400"/>
            <a:ext cx="3108960" cy="3108960"/>
          </a:xfrm>
          <a:prstGeom prst="ellipse">
            <a:avLst/>
          </a:prstGeom>
          <a:solidFill>
            <a:srgbClr val="1F9E7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4572000"/>
            <a:ext cx="2926080" cy="2926080"/>
          </a:xfrm>
          <a:prstGeom prst="ellipse">
            <a:avLst/>
          </a:prstGeom>
          <a:solidFill>
            <a:srgbClr val="D78A27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3317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structure. Consistent setup. Better reporting.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37033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CF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it up right at the request and it shows up everywhere it should: the Monday snapshot, pipeline, and the campaigns that earn more budget.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7F8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Mapal OS, internal.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Paid media and campaigns</dc:title>
  <dc:subject>PptxGenJS Presentation</dc:subject>
  <dc:creator>Marketing</dc:creator>
  <cp:lastModifiedBy>Marketing</cp:lastModifiedBy>
  <cp:revision>1</cp:revision>
  <dcterms:created xsi:type="dcterms:W3CDTF">2026-06-29T00:44:13Z</dcterms:created>
  <dcterms:modified xsi:type="dcterms:W3CDTF">2026-06-29T00:44:13Z</dcterms:modified>
</cp:coreProperties>
</file>