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9" r:id="rId30"/>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1" r:id="rId32"/>
    <p:sldId id="275" r:id="rId21"/>
    <p:sldId id="276" r:id="rId22"/>
    <p:sldId id="282" r:id="rId33"/>
    <p:sldId id="280" r:id="rId31"/>
    <p:sldId id="283" r:id="rId34"/>
    <p:sldId id="284" r:id="rId35"/>
    <p:sldId id="285" r:id="rId36"/>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5.xml"/><Relationship Id="rId31" Type="http://schemas.openxmlformats.org/officeDocument/2006/relationships/slide" Target="slides/slide25.xml"/><Relationship Id="rId32" Type="http://schemas.openxmlformats.org/officeDocument/2006/relationships/slide" Target="slides/slide21.xml"/><Relationship Id="rId33" Type="http://schemas.openxmlformats.org/officeDocument/2006/relationships/slide" Target="slides/slide24.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framing before I start. This is the paid media audit and the plan that comes out of it. Three data sources behind everything you'll see: a 90-day spend audit across Google, LinkedIn, Microsoft and Meta, a 17-month Meta export, and the Dynamics attribution review. I'd say the headline upfront so nobody's waiting for it: paid is stronger than our reporting shows, and most of what's holding it back is fixable without new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findings ranked by how much they change the picture, so if you only remember one thing, remember number one. Paid shows ~120 opps and ~1.05M in pipeline in Dynamics over 12 months, but HubSpot only surfaces about 19, so that gap is a reporting break, not weak performance. The other five are all execution: bidding for clicks not customers, brand defence switched off, budget on products a market can't sell, narrow audiences that starved the platforms, and a conversion signal that wasn't firing. I'll go deep on attribution next, then walk each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behind finding one. Paid looks small in HubSpot for three specific reasons, and the thing I want to land is that all three push the number down, never up, and none of them is a flaw in how attribution was designed (that part is sound, the breaks are upstream). Legacy IDs make old deals read blank, the Dynamics sync writes source without our UTMs so new paid leads land with no campaign, and last-touch hands paid's credit to the demo form. The fix going forward is UTMs; the historic clean-up sits with RevOps.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the real number already exists, it's not something I'm still working out. Dynamics shows 120 paid opps, ~1.05M pipeline, 19 won, split UK 47 / FR 46 / ES 27. Of the 120, 101 already have a named campaign attached and 19 don't, which is the UTM gap we're closing. HubSpot only shows about 19 today, that's the reporting floor. I'd flag the caveats honestly: 1.05M is pipeline not revenue, and 120 is itself a floor because paid-driven demo fills hide in Request a Demo. If anyone asks about the value, it's mixed currency, I'm comfortable with that, the counts and win rates aren't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platform, Spain and LATAM Google, flagship is Workforce. The pattern here is the whole audit in one slide: 9 of the top 10 campaigns on Maximize Clicks, which buys clicks regardless of whether they convert. The worst line is Workforce-ES Search, 7,305 euros for one conversion, and 6,593 of that on mobile for zero, so pausing mobile is an easy win. One thing genuinely held up, the four negative-keyword lists, better than the UK. Year on year cost is up 49% while conversions are down 65%, so we paid much more for much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Google, flagship Easilys, and here the product direction was actually right, which I want to credit. The problem is execution: one good product split across twelve overlapping variants that divided the budget and the signal twelve ways. Performance Max converts whenever the signal reaches it, which tells us the offer works, it's the structure that's broken. 9,160 euros, 44% of the French Google budget, ran on keywords off the core play. The fix is consolidation to one search campaign plus one PMax. The 542-keyword negative list is genuinely good and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Google. The headline writes itself: the cheapest converting campaign in the whole account, brand defence at 13.64 per conversion, was switched off in early December and left off for five months while expensive generic terms ran on Maximize Clicks for zero conversions. So competitors were bidding on our own brand unopposed. The single biggest lever in the UK is just turning brand defence back on. Also worth noting there are no negative keyword lists at all here and 69,000 placement exclusions attached to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and this is the cleanest experiment in the audit, so I lean on it. Same French offer, same form, two audiences: a narrow 3,400 list gave zero leads, a broad 22K audience gave leads at 148 each. The narrow list was below LinkedIn's delivery threshold, so it starved the algorithm of signal. The efficiency gap is stark, 184 a click narrow versus 8.28 broad. The creative was good and carries forward. The lesson that drives the rebuild: broad-but-correctly-targeted beats hand-picked lists, and a ready 1.28M French audience is sitting unused for us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UK and France. The framing I'd use is that this isn't really fix Microsoft, it's decide what Microsoft should be, because it was effectively zero spend a year ago. The UK account is entirely paused, misconfigured (6 euro target CPA on software that sells for hundreds, wrong time zone, wrong currency), so we rebuild it deliberately rather than just un-pausing. France is 42 campaigns auto-imported from Google, all on Maximize Clicks, with Workforce running (wrong product) and the Audience Network eating 31% of spend. The one bright spot is the French Easilys brand term converting at ~143, that's the anchor for the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The point I want to make is it's not unproven, it ran 17 months and ~15,000 euros, but 73% of that chased traffic and awareness instead of leads, same disease as Maximize Clicks on Google. The pixel died about four weeks ago and nobody noticed, which is the accountability gap. The one thing that worked: native lead forms captured at 26 versus 84 on a landing page, three times cheaper, but I'm being disciplined, we trace those leads to actual pipeline before we scale. France is the only thing live right now. If the growth team's video comes up, it runs inside the lead-form structure where it converts, not as standalone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usually gets questions, so I'll be clear. We were partly bidding against a competitor set that HQ assumed but that doesn't actually show up in the auctions. In France it's Lightspeed and Skello, a point-of-sale fight, which is exactly why we keep Workforce out and consolidate on Easilys. Iberia is HR and payroll tools, so Workforce stays but messaging shifts to the HR axis. UK is training and LMS tools, which fits Flow. The workforce-management names HQ assumes barely appear anywhere. So we plan against the competition we can actually see. Brand defence matters most where rivals bid on our terms, confirmed on French 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Everything I just walked through collapses into six repeating patterns: volume-not-value bidding, narrow LinkedIn lists, brand defence off, spend on products a market can't sell, operating against a broken conversion signal, and budget leaking to the worst placements. The reason I group them is that fixing the six causes stops the individual problems coming back, rather than playing whack-a-mole campaign by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Each line is 90-day spend that returned zero or near-zero and was structurally wrong. About 26,000 over 90 days, roughly 105,000 a year if it continues. I'm deliberately conservative on what we actually recover: 35 to 55K a year is the number I'd commit to publicly, with upside to 70-100K if the tracking fix confirms the waste and the lead-form model scales. Two honesty notes I'd say out loud: the Meta Audience Network figure is a 17-month number on a different clock so it's not stacked into the 90-day total, and the 10,857 Meta spent on wrong objectives is redeployable, not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rebuild: about 33 campaigns total, four on Google, three on LinkedIn, two on Microsoft, three on Meta per active market. The principle on every one is the same, funded above the learning threshold, one flagship product, measured on a working conversion. The point I'd make to the team is manageability: one person can run weekly hygiene across 33 focused campaigns, nobody can run the current sprawl well. Meta only scales after we exclude Audience Network, fix the pixel, and delete the zombie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pre-empts the obvious worry, that I'm just turning the old stuff back on. I'm not. Only two things earn their place: UK brand defence, because at 13.64 per conversion it was the cheapest in the account, and the broad lead-form model from France, because it's the only LinkedIn setup that produced leads at a sensible cost. And even those get rebuilt, not un-paused, to the naming convention, with a clean conversion and the right bid strategy. Everything else is killed, consolidated, or rebuilt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scope so leadership sees it's substantial, not a few tweaks. Four columns: what we kill, what we consolidate, what we pause or attach right now, and what we rebuild from mid-June. The immediate wins need no dependency, like pausing Workforce-ES mobile to save 2,200 a month and attaching the orphaned negative list. The bid migration to conversion bidding is the only piece that waits on the tracking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The June to December floor is firm at 110,000 euros, confirmed by leadership. Full-year paid is about 254,600 (search about 199,000, social about 55,800). Envelope: paid scope was about 242,600 for the year before this plan, of which roughly 144,600 was committed January to May; the 14,800 trade-media line is SEO and PR owned and out of paid scope. We hold search market totals, trim Mexico to a token, and shift that budget plus the floor headroom into Iberia LinkedIn, so Iberia social now sits ahead of UK social. Top-ups beyond the floor are staged and held off-slide: an extra 30,000 to 40,000 likely soon, about 20,000 possible for Q4 from unused budget, and 55,000 from a cancelled event earmarked for UK ideas; deployed only on confirmation, social growth-support and UK brand and comparison search first. The 45,000 non-recurrent LATAM line is closed and redistributed. AI-search stat to land: AI Overviews now answer many broad queries in place, so those clicks fall and the cost per click on high-intent terms rises, which is exactly why we concentrate on brand and comparison 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shift from audit to forward strategy. The core idea: paid and nurture run as one engine, not two teams. Most B2B buyers aren't ready on first touch, so if we judge paid only on first-touch leads we throw away most of the demand it pays to create. The loop is five steps: paid captures intent, everyone enters a HubSpot audience, nurture works the not-ready, remarketing keeps us present, and sales-ready leads convert and trace back to paid. The lever isn't more spend, it's this layer, which never existed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where paid and nurture physically connect, which is HubSpot audiences. The honest status is that the pieces exist in fragments and the job is to assemble them. Left column is what we build now because it has no dependency, the behavioural segments and nurture sequences. Right column waits on the tracking fix, syncing those segments out to the platforms and building lookalikes from closed-won. So we're not blocked, we start the design immediately and switch on the sync when tracking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philosophy for the social platforms. Paid has two jobs: always-on demand capture, and supporting the growth team's events and content. Search stays 100% evergreen because intent capture should never be sacrificed to promote an activity. LinkedIn and Meta split, 70/30 and 75/25, where the growth-support share is ring-fenced for the growth team. The key line I'd say out loud: that growth share is a ceiling not a floor, if it's not used it reverts to evergreen so nothing sits idle, and a heavy event month can borrow above it with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ABM, and I want to be careful with the framing because we did kill the old ABM. The message is we killed the mechanics, not the intent: narrow lists below threshold, InMail spam, 441 euros for zero leads. We rebuild in three tiers. Tier 1 is named accounts measured on meetings, Tier 2 is the workhorse, best-fit segments on the proven broad model measured on cost per lead through to pipeline, Tier 3 is broad ICP feeding the funnel. The budget point: all three tiers run year-round so ABM sits in evergreen, which frees the growth-support share back to the growth team. Tier 2 and 3 start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picture in one view. The number I lead with is 35 to 55K a year recovery, that's the realistic 67K with conservatism baked in for execution risk. The conservative floor of 22-30K is only if I get challenged, and the 70-100K stretch is genuine upside if tracking lands and the lead-form model scales. We've already booked about 9,000 by killing the failed LinkedIn ABM. The way to read the whole slide: we're not asking for more money, we cut the waste, fund fewer campaigns properly, and the recovery is bigger than the reinvestment.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takeaway if people forget everything else. The spend was spread thin, bid for clicks not customers, and measured on a broken signal. We concentrate it, fix the measurement, defend the brand, scale the one model that worked, and wire paid to nurture. The line I'd close on: paid isn't weak, it's undercounted, it already shows ~1.05M in Dynamics while half-broken and half-paused, so fix the loop and it earns its place among the top sources of pipeline at Mapal.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ranking slide and it's worth being precise. By pipeline value paid is fourth, I'm not hiding that, because value counts opportunities created. But on deals actually won, paid is second only to Request a Demo, ahead of website, events and email, converting at 15.8%. The contrast I'd point at is email: more pipeline value than paid but almost no wins. And Request a Demo isn't really a channel, it's a last-touch bucket holding demand the other channels created, so paid's true standing is higher than even this shows. One honest open item: a separate filtered view ranks paid third by value, I still need to reconcile its window with this full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principle, and I'd present it as a strength, not a hedge. Platforms over-count, a paid click that would've happened anyway for free isn't new business. So we turn brand defence back on, but we treat its value as a hypothesis and prove it with a geo holdout: on where rivals bid our brand, off in a comparable market where they don't, compare branded conversions over four to six weeks. The standard for every channel is incremental lift, not platform-reported conversions. The reference point is the Uber case, where holdout testing reallocated about 35 million dollars. It sharpens the brand-defence case, it doesn't weaken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treat as a discussion point with the SDR and RevOps side in the room, because it names a gap honestly. The routing is now live: a central workflow creates, qualifies and routes the non-demo leads to an owner, splits customers to Customer Success, dedups against open leads, and blocks non-fits. So the gap is largely closed. I'd land two residual points: only demo requests alert an SDR today, so non-demo leads can sit (a queue view or daily digest closes it, with the SDR side), and paid leads need a clean paid-source label on entry, which is ours. Automatic scoring is RevOps Phase 2. SDRs are at 63% of target, so any working signal stays priority not a punitive timer. Named accounts can route to a LinkedIn connect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loop, placed after acquisition and the ABM rebuild on purpose. Acquisition wins the logo; expansion grows it. In a multi-module business the cheapest pipeline we have is the customers we already serve, which is exactly why the acquisition rules suppress current customers. Two motions: cross-sell the next module (Flow to Compliance, Workforce to Compliance, Easilys to Flow) and up-sell what they already have (more sites, seats, a higher tier, the renewal uplift). One hard rule: only green-health accounts get an expansion ask, an at-risk account is a save not a sell. Marketing owns the demand layer and hands a qualified signal to the account owner; Customer Success and account management own the sale. We judge it on net revenue retention and expansion revenue, proven against a held-out set of accounts. It is a post-launch Q3 build, gated on product-usage and account-health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Messaging is specific, substantiated and true to what the product does in each market: claim only what is true and live per market, lead with substantiated proof, and cut generic claims for specific feature angles.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stays the primary call to action. Each alternative is its own tracked conversion with a value lower than a demo, so bidding never optimises to the cheapest, lowest-intent form-fill. Alternative-path leads feed nurture, scored lower than a demo request, and are handed to sales only once nurture qualifies them, which protects the SDR team running below target. A path goes live only where its tracked conversion and its nurture exit exist; until then it is planned, not live. The assets (simulator, quote flow, brochure, gated content) are produced by web, content and RevOps; paid uses them as conversion points and distributes them, it does not own asset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1E4A"/>
        </a:solidFill>
      </p:bgPr>
    </p:bg>
    <p:spTree>
      <p:nvGrpSpPr>
        <p:cNvPr id="1" name=""/>
        <p:cNvGrpSpPr/>
        <p:nvPr/>
      </p:nvGrpSpPr>
      <p:grpSpPr>
        <a:xfrm>
          <a:off x="0" y="0"/>
          <a:ext cx="0" cy="0"/>
          <a:chOff x="0" y="0"/>
          <a:chExt cx="0" cy="0"/>
        </a:xfrm>
      </p:grpSpPr>
      <p:sp>
        <p:nvSpPr>
          <p:cNvPr id="2" name="Text 0"/>
          <p:cNvSpPr/>
          <p:nvPr/>
        </p:nvSpPr>
        <p:spPr>
          <a:xfrm>
            <a:off x="640080" y="1371600"/>
            <a:ext cx="5486400" cy="365760"/>
          </a:xfrm>
          <a:prstGeom prst="rect">
            <a:avLst/>
          </a:prstGeom>
          <a:noFill/>
          <a:ln/>
        </p:spPr>
        <p:txBody>
          <a:bodyPr wrap="square" lIns="0" tIns="0" rIns="0" bIns="0" rtlCol="0" anchor="ctr"/>
          <a:lstStyle/>
          <a:p>
            <a:pPr indent="0" marL="0">
              <a:buNone/>
            </a:pPr>
            <a:r>
              <a:rPr lang="en-US" sz="1400" b="1" spc="400" kern="0" dirty="0">
                <a:solidFill>
                  <a:srgbClr val="D6D3FE"/>
                </a:solidFill>
                <a:latin typeface="Calibri" pitchFamily="34" charset="0"/>
                <a:ea typeface="Calibri" pitchFamily="34" charset="-122"/>
                <a:cs typeface="Calibri" pitchFamily="34" charset="-120"/>
              </a:rPr>
              <a:t>MAPAL OS</a:t>
            </a:r>
            <a:endParaRPr lang="en-US" sz="1400" dirty="0"/>
          </a:p>
        </p:txBody>
      </p:sp>
      <p:sp>
        <p:nvSpPr>
          <p:cNvPr id="3" name="Text 1"/>
          <p:cNvSpPr/>
          <p:nvPr/>
        </p:nvSpPr>
        <p:spPr>
          <a:xfrm>
            <a:off x="640080" y="2286000"/>
            <a:ext cx="10515600" cy="173736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Paid Media Forward Strategy</a:t>
            </a:r>
            <a:endParaRPr lang="en-US" sz="4600" dirty="0"/>
          </a:p>
        </p:txBody>
      </p:sp>
      <p:sp>
        <p:nvSpPr>
          <p:cNvPr id="4" name="Text 2"/>
          <p:cNvSpPr/>
          <p:nvPr/>
        </p:nvSpPr>
        <p:spPr>
          <a:xfrm>
            <a:off x="640080" y="4160520"/>
            <a:ext cx="9144000" cy="1188720"/>
          </a:xfrm>
          <a:prstGeom prst="rect">
            <a:avLst/>
          </a:prstGeom>
          <a:noFill/>
          <a:ln/>
        </p:spPr>
        <p:txBody>
          <a:bodyPr wrap="square" lIns="0" tIns="0" rIns="0" bIns="0" rtlCol="0" anchor="t"/>
          <a:lstStyle/>
          <a:p>
            <a:pPr indent="0" marL="0">
              <a:lnSpc>
                <a:spcPct val="130000"/>
              </a:lnSpc>
              <a:buNone/>
            </a:pPr>
            <a:r>
              <a:rPr lang="en-US" sz="1500" dirty="0">
                <a:solidFill>
                  <a:srgbClr val="D6D3FE"/>
                </a:solidFill>
                <a:latin typeface="Calibri" pitchFamily="34" charset="0"/>
                <a:ea typeface="Calibri" pitchFamily="34" charset="-122"/>
                <a:cs typeface="Calibri" pitchFamily="34" charset="-120"/>
              </a:rPr>
              <a:t>Audit, strategy, and the path to leading pipeline. Google, LinkedIn, Microsoft and Meta across UK, Iberia, France and LATAM. Built on the 90-day spend audit, the 17-month Meta export, and the Dynamics 365 attribution review.</a:t>
            </a:r>
            <a:endParaRPr lang="en-US" sz="1500" dirty="0"/>
          </a:p>
        </p:txBody>
      </p:sp>
      <p:sp>
        <p:nvSpPr>
          <p:cNvPr id="5" name="Text 3"/>
          <p:cNvSpPr/>
          <p:nvPr/>
        </p:nvSpPr>
        <p:spPr>
          <a:xfrm>
            <a:off x="640080" y="6217920"/>
            <a:ext cx="10058400" cy="274320"/>
          </a:xfrm>
          <a:prstGeom prst="rect">
            <a:avLst/>
          </a:prstGeom>
          <a:noFill/>
          <a:ln/>
        </p:spPr>
        <p:txBody>
          <a:bodyPr wrap="square" lIns="0" tIns="0" rIns="0" bIns="0" rtlCol="0" anchor="ctr"/>
          <a:lstStyle/>
          <a:p>
            <a:pPr indent="0" marL="0">
              <a:buNone/>
            </a:pPr>
            <a:r>
              <a:rPr lang="en-US" sz="1100" b="1" spc="200" kern="0" dirty="0">
                <a:solidFill>
                  <a:srgbClr val="9D92C4"/>
                </a:solidFill>
                <a:latin typeface="Calibri" pitchFamily="34" charset="0"/>
                <a:ea typeface="Calibri" pitchFamily="34" charset="-122"/>
                <a:cs typeface="Calibri" pitchFamily="34" charset="-120"/>
              </a:rPr>
              <a:t>Adrian Fernandez   ·   Digital Growth Marketing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SIX FINDINGS THAT MATTER MOST</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Ranked by how much each changes the picture.</a:t>
            </a:r>
            <a:endParaRPr lang="en-US" sz="2600" dirty="0"/>
          </a:p>
          <a:p>
            <a:pPr indent="0" marL="0">
              <a:lnSpc>
                <a:spcPct val="100000"/>
              </a:lnSpc>
              <a:spcBef>
                <a:spcPts val="700"/>
              </a:spcBef>
              <a:buNone/>
            </a:pPr>
            <a:r>
              <a:rPr lang="en-US" sz="1400" b="1" dirty="0">
                <a:solidFill>
                  <a:srgbClr val="C23058"/>
                </a:solidFill>
                <a:latin typeface="Georgia" pitchFamily="34" charset="0"/>
                <a:ea typeface="Georgia" pitchFamily="34" charset="-122"/>
                <a:cs typeface="Georgia" pitchFamily="34" charset="-120"/>
              </a:rPr>
              <a:t>We judge paid on incremental lift, proven by holdout, not platform-reported conversions.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640080"/>
                <a:gridCol w="3840480"/>
                <a:gridCol w="6428232"/>
              </a:tblGrid>
              <a:tr h="60350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says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is undercounted, not underperforming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Dynamics (where sales work deals) shows paid at 120 opps and ~€1.05M pipeline over 12 months, 19 won. HubSpot surfaces only ~19. The gap is a reporting break, not performance.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Bidding was set for volume, not value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Top-spend campaigns in ES, UK and FR Microsoft ran on Maximize Clicks: most clicks for the money, no regard for conversions. High clicks, near-zero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was switched off for five months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brand defence paused on Google and Microsoft since early December. It had the lowest cost per conversion in the account. Competitors bid on Mapal terms unopposed.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Budget went to products a market cannot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French Microsoft ran Workforce; the Spanish account carried LATAM Workforce. Both against the agreed product-market map. Off-map spend is waste by definition.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audiences failed; broad correct ones worked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FR offer, same form: a narrow 3,400 list gave 0 leads, a broad 22K audience gave 3 leads at a clean cost. Narrow hand-built lists starve the platform of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The conversion signal was broken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 MQL and SQL events were not firing into Google, LinkedIn or Microsoft. Tags are healthy; the break is at the event layer. No campaign can bid toward a conversion it never sees.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Shape 2"/>
          <p:cNvSpPr/>
          <p:nvPr/>
        </p:nvSpPr>
        <p:spPr>
          <a:xfrm>
            <a:off x="640080" y="6364224"/>
            <a:ext cx="10908792" cy="0"/>
          </a:xfrm>
          <a:prstGeom prst="line">
            <a:avLst/>
          </a:prstGeom>
          <a:noFill/>
          <a:ln w="9525">
            <a:solidFill>
              <a:srgbClr val="D8D5E4"/>
            </a:solidFill>
            <a:prstDash val="solid"/>
          </a:ln>
        </p:spPr>
      </p:sp>
      <p:sp>
        <p:nvSpPr>
          <p:cNvPr id="6" name="Text 3"/>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7" name="Text 4"/>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FINDING 1 IN DEPTH · ATTRIBUTION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Why paid looks small, and why that is now fixable.</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Paid looks like a small pipeline source in HubSpot. It breaks in three specific ways, and all three push paid's number down, not up. The CRM model is sound; the breaks are upstream.</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291840"/>
                <a:gridCol w="7434072"/>
              </a:tblGrid>
              <a:tr h="8412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it breaks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Historic source hides under legacy IDs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Old deals store the source under an option ID from an earlier version of the field. The label still reads correctly, but reports match the current ID, so they come back blank. Recoverable with a re-map.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The sync writes source, not our UTMs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Deals created by the Dynamics sync carry a source written by Dynamics. Without UTMs in place, new web-tracked paid leads can arrive with no campaign attached, so credit lands nowhere.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412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Last touch steals the credit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paid click that converts later on a demo form gets logged to the last touch, often "Request a Demo". Paid did the work; another line takes the report. The biggest source bucket hides paid this way.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440680"/>
            <a:ext cx="10908792" cy="822960"/>
          </a:xfrm>
          <a:prstGeom prst="rect">
            <a:avLst/>
          </a:prstGeom>
          <a:noFill/>
          <a:ln/>
        </p:spPr>
        <p:txBody>
          <a:bodyPr wrap="square" lIns="0" tIns="0" rIns="0" bIns="0" rtlCol="0" anchor="t"/>
          <a:lstStyle/>
          <a:p>
            <a:pPr indent="0" marL="0">
              <a:lnSpc>
                <a:spcPct val="110000"/>
              </a:lnSpc>
              <a:buNone/>
            </a:pPr>
            <a:r>
              <a:rPr lang="en-US" sz="1150" b="1" dirty="0">
                <a:solidFill>
                  <a:srgbClr val="2F1E4A"/>
                </a:solidFill>
                <a:latin typeface="Calibri" pitchFamily="34" charset="0"/>
                <a:ea typeface="Calibri" pitchFamily="34" charset="-122"/>
                <a:cs typeface="Calibri" pitchFamily="34" charset="-120"/>
              </a:rPr>
              <a:t xml:space="preserve">What this means.  </a:t>
            </a:r>
            <a:pPr indent="0" marL="0">
              <a:lnSpc>
                <a:spcPct val="110000"/>
              </a:lnSpc>
              <a:buNone/>
            </a:pPr>
            <a:r>
              <a:rPr lang="en-US" sz="1150" dirty="0">
                <a:solidFill>
                  <a:srgbClr val="3C3550"/>
                </a:solidFill>
                <a:latin typeface="Calibri" pitchFamily="34" charset="0"/>
                <a:ea typeface="Calibri" pitchFamily="34" charset="-122"/>
                <a:cs typeface="Calibri" pitchFamily="34" charset="-120"/>
              </a:rPr>
              <a:t>The real figure is not "in progress" any more, Dynamics already holds it. With UTMs set correctly, go-forward paid measures properly in HubSpot for the first time, and the platforms finally get a conversion signal to bid on. The historic clean-up sits with RevOps.</a:t>
            </a:r>
            <a:endParaRPr lang="en-US" sz="11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ATTRIBUTION · THE EVIDENCE IN THE DATA</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source data exists, and it is clean in the system of record.</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5486400"/>
                <a:gridCol w="1463040"/>
                <a:gridCol w="1828800"/>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Paid in Dynamics, 12 months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Opps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United Kingdom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Spain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Total paid (Search + Social)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~€1.05M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b="1" dirty="0">
                          <a:solidFill>
                            <a:srgbClr val="3C3550"/>
                          </a:solidFill>
                          <a:latin typeface="Calibri" pitchFamily="34" charset="0"/>
                          <a:ea typeface="Calibri" pitchFamily="34" charset="-122"/>
                          <a:cs typeface="Calibri" pitchFamily="34" charset="-120"/>
                        </a:rPr>
                        <a:t>Of which won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Attached to a named paid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19 with no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84048">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Shown as paid in HubSpot today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C23058"/>
                          </a:solidFill>
                          <a:latin typeface="Calibri" pitchFamily="34" charset="0"/>
                          <a:ea typeface="Calibri" pitchFamily="34" charset="-122"/>
                          <a:cs typeface="Calibri" pitchFamily="34" charset="-120"/>
                        </a:rPr>
                        <a:t>the reporting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440680"/>
            <a:ext cx="10908792" cy="868680"/>
          </a:xfrm>
          <a:prstGeom prst="rect">
            <a:avLst/>
          </a:prstGeom>
          <a:noFill/>
          <a:ln/>
        </p:spPr>
        <p:txBody>
          <a:bodyPr wrap="square" lIns="0" tIns="0" rIns="0" bIns="0" rtlCol="0" anchor="t"/>
          <a:lstStyle/>
          <a:p>
            <a:pPr indent="0" marL="0">
              <a:lnSpc>
                <a:spcPct val="108000"/>
              </a:lnSpc>
              <a:buNone/>
            </a:pPr>
            <a:r>
              <a:rPr lang="en-US" sz="1100" b="1" dirty="0">
                <a:solidFill>
                  <a:srgbClr val="2F1E4A"/>
                </a:solidFill>
                <a:latin typeface="Calibri" pitchFamily="34" charset="0"/>
                <a:ea typeface="Calibri" pitchFamily="34" charset="-122"/>
                <a:cs typeface="Calibri" pitchFamily="34" charset="-120"/>
              </a:rPr>
              <a:t xml:space="preserve">Hold these caveats.  </a:t>
            </a:r>
            <a:pPr indent="0" marL="0">
              <a:lnSpc>
                <a:spcPct val="108000"/>
              </a:lnSpc>
              <a:buNone/>
            </a:pPr>
            <a:r>
              <a:rPr lang="en-US" sz="1100" dirty="0">
                <a:solidFill>
                  <a:srgbClr val="6A6478"/>
                </a:solidFill>
                <a:latin typeface="Calibri" pitchFamily="34" charset="0"/>
                <a:ea typeface="Calibri" pitchFamily="34" charset="-122"/>
                <a:cs typeface="Calibri" pitchFamily="34" charset="-120"/>
              </a:rPr>
              <a:t>€1.05M is pipeline, not revenue; the closed part is the 19 won. Denominator is marketing opps, not all company pipeline. And 120 is itself a floor: paid-driven demo fills sit in "Request a Demo" via last touch. The re-map that recovers the historic ~10,920 deals is provisional, to verify on sample deals first. The HubSpot attribution design is sound; the breaks are upstream.</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ATTRIBUTION · WHERE PAID RANKS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On closed business, paid is a top-two source.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520440"/>
                <a:gridCol w="1219200"/>
                <a:gridCol w="1463040"/>
                <a:gridCol w="1158240"/>
                <a:gridCol w="1417320"/>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Marketing source, 12 months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Opps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Win rate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Request a Demo  (last touch)</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€6.04M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15.7%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Marketing Event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€1.73M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Marketing Email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€1.37M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b="1" dirty="0">
                          <a:solidFill>
                            <a:srgbClr val="C23058"/>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42000">
                <a:tc>
                  <a:txBody>
                    <a:bodyPr/>
                    <a:lstStyle/>
                    <a:p>
                      <a:pPr algn="l" indent="0" marL="0">
                        <a:buNone/>
                      </a:pPr>
                      <a:r>
                        <a:rPr lang="en-US" sz="1000" b="1" dirty="0">
                          <a:solidFill>
                            <a:srgbClr val="2F1E4A"/>
                          </a:solidFill>
                          <a:latin typeface="Calibri" pitchFamily="34" charset="0"/>
                          <a:ea typeface="Calibri" pitchFamily="34" charset="-122"/>
                          <a:cs typeface="Calibri" pitchFamily="34" charset="-120"/>
                        </a:rPr>
                        <a:t>Paid (search + social)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1E4A"/>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1E4A"/>
                          </a:solidFill>
                          <a:latin typeface="Calibri" pitchFamily="34" charset="0"/>
                          <a:ea typeface="Calibri" pitchFamily="34" charset="-122"/>
                          <a:cs typeface="Calibri" pitchFamily="34" charset="-120"/>
                        </a:rPr>
                        <a:t>€1.05M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7D52"/>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c>
                  <a:txBody>
                    <a:bodyPr/>
                    <a:lstStyle/>
                    <a:p>
                      <a:pPr algn="r" indent="0" marL="0">
                        <a:buNone/>
                      </a:pPr>
                      <a:r>
                        <a:rPr lang="en-US" sz="1000" b="1" dirty="0">
                          <a:solidFill>
                            <a:srgbClr val="2F7D52"/>
                          </a:solidFill>
                          <a:latin typeface="Calibri" pitchFamily="34" charset="0"/>
                          <a:ea typeface="Calibri" pitchFamily="34" charset="-122"/>
                          <a:cs typeface="Calibri" pitchFamily="34" charset="-120"/>
                        </a:rPr>
                        <a:t>15.8%</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FBEEF2"/>
                    </a:solidFill>
                  </a:tcPr>
                </a:tc>
              </a:tr>
              <a:tr h="442000">
                <a:tc>
                  <a:txBody>
                    <a:bodyPr/>
                    <a:lstStyle/>
                    <a:p>
                      <a:pPr algn="l" indent="0" marL="0">
                        <a:buNone/>
                      </a:pPr>
                      <a:r>
                        <a:rPr lang="en-US" sz="1000" dirty="0">
                          <a:solidFill>
                            <a:srgbClr val="3C3550"/>
                          </a:solidFill>
                          <a:latin typeface="Calibri" pitchFamily="34" charset="0"/>
                          <a:ea typeface="Calibri" pitchFamily="34" charset="-122"/>
                          <a:cs typeface="Calibri" pitchFamily="34" charset="-120"/>
                        </a:rPr>
                        <a:t>Website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€0.66M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000" dirty="0">
                          <a:solidFill>
                            <a:srgbClr val="3C3550"/>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440680"/>
            <a:ext cx="10908792" cy="868680"/>
          </a:xfrm>
          <a:prstGeom prst="rect">
            <a:avLst/>
          </a:prstGeom>
          <a:noFill/>
          <a:ln/>
        </p:spPr>
        <p:txBody>
          <a:bodyPr wrap="square" lIns="0" tIns="0" rIns="0" bIns="0" rtlCol="0" anchor="t"/>
          <a:lstStyle/>
          <a:p>
            <a:pPr indent="0" marL="0">
              <a:lnSpc>
                <a:spcPct val="108000"/>
              </a:lnSpc>
              <a:buNone/>
            </a:pPr>
            <a:r>
              <a:rPr lang="en-US" sz="1100" b="1" dirty="0">
                <a:solidFill>
                  <a:srgbClr val="2F1E4A"/>
                </a:solidFill>
                <a:latin typeface="Calibri" pitchFamily="34" charset="0"/>
                <a:ea typeface="Calibri" pitchFamily="34" charset="-122"/>
                <a:cs typeface="Calibri" pitchFamily="34" charset="-120"/>
              </a:rPr>
              <a:t xml:space="preserve">What this means.  </a:t>
            </a:r>
            <a:pPr indent="0" marL="0">
              <a:lnSpc>
                <a:spcPct val="108000"/>
              </a:lnSpc>
              <a:buNone/>
            </a:pPr>
            <a:r>
              <a:rPr lang="en-US" sz="1100" dirty="0">
                <a:solidFill>
                  <a:srgbClr val="6A6478"/>
                </a:solidFill>
                <a:latin typeface="Calibri" pitchFamily="34" charset="0"/>
                <a:ea typeface="Calibri" pitchFamily="34" charset="-122"/>
                <a:cs typeface="Calibri" pitchFamily="34" charset="-120"/>
              </a:rPr>
              <a:t>By pipeline value paid is fourth, because value counts opportunities created, not deals won. On closed-won deals paid is second only to the last-touch demo bucket, and ahead of website, events and email, converting at 15.8% while email wins almost none of its larger pipeline. Request a Demo is a last-touch destination, not a channel, so paid's true standing is higher still. One open item: a separate filtered view ranks paid third by value, and its window needs reconciling with this full export.</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SPAIN + LATAM (FLAGSHIP: WORKFORCE)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Bidding bought clicks instead of conversions.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flagship on conversion bidding into a working Lead MQL event, secondary products capped, Display fenced or off. Instead: 9 of 10 top campaigns on Maximize Clicks.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468880"/>
                <a:gridCol w="1828800"/>
                <a:gridCol w="1097280"/>
                <a:gridCol w="822960"/>
                <a:gridCol w="45079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Bid strategy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Workforce-ES Search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€7,305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Mobile €6,593 / 0 conv; desktop €79. Pause mobile.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€5,131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No conversions, wrong bid strategy.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Compliance-ES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€2,587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Secondary product on uncapped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Workforce-LATAM</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Off-map, nested in the ES account.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Flow-ES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Only top-10 campaign with any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4x Display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~€900 ea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No placement exclusions on 666-782K impressions each.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687568"/>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4 product-segmented negative keyword lists in active use (better than UK).</a:t>
            </a:r>
            <a:endParaRPr lang="en-US" sz="1100" dirty="0"/>
          </a:p>
        </p:txBody>
      </p:sp>
      <p:sp>
        <p:nvSpPr>
          <p:cNvPr id="7" name="Text 4"/>
          <p:cNvSpPr/>
          <p:nvPr/>
        </p:nvSpPr>
        <p:spPr>
          <a:xfrm>
            <a:off x="640080" y="6144768"/>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+49%, conversions -65%, cost per conversion +321%.</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FRANCE (FLAGSHIP: EASILYS)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right product, split across twelve campaigns.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one consolidated Easilys search campaign + one Performance Max, both feeding a single clean conversion, geos as ad groups. Instead: 12 overlapping variants splitting budget and signal.</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3383280"/>
                <a:gridCol w="1188720"/>
                <a:gridCol w="822960"/>
                <a:gridCol w="533095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 / issue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Perf Max v3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€3,167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PMax converts when the signal reaches it. The model works.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Scale keywords v3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€2,619</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One of 7 of the top 10 campaigns at zero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Easilys Perf Max (paused)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€2,120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Also converted; paused anyway.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"logiciel restauration collective"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€2,443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phrase running across 3 separate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Keyword spread (52 KWs)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€9,160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44% of FR Google budget not aligned to the consolidated play.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Conversion layer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18 of 29 actions Removed but still flagged primary in goals.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687568"/>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542-keyword Easilys negative list on 26 campaigns (genuinely good, stays). Product direction was correct.</a:t>
            </a:r>
            <a:endParaRPr lang="en-US" sz="1100" dirty="0"/>
          </a:p>
        </p:txBody>
      </p:sp>
      <p:sp>
        <p:nvSpPr>
          <p:cNvPr id="7" name="Text 4"/>
          <p:cNvSpPr/>
          <p:nvPr/>
        </p:nvSpPr>
        <p:spPr>
          <a:xfrm>
            <a:off x="640080" y="6144768"/>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+74%.</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GOOGLE ADS · UK (FLAGSHIP: FLOW + COMPLIANCE)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cheapest campaign in the account was switched off.</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Should have run: brand defence always on, flagship on conversion bidding, generic terms restructured or stopped. Instead: brand defence paused since early December while expensive generic terms ran on Maximize Clicks.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651760"/>
                <a:gridCol w="1737360"/>
                <a:gridCol w="1097280"/>
                <a:gridCol w="914400"/>
                <a:gridCol w="432511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Campaign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Bid strategy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 90d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Conv.</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(paused)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(was manual)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162 life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€13.64 lifetime cost per conversion. The cheapest in the account, switched off.</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Flow-Hospitality Training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€3,445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Expensive generic terms, no conversions.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Mapal-Hospitality software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€2,154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pattern.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Mapal Demo Form (conv)</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20 flag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flags the tag "needs attention"; the count is not trustworthy.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4846320"/>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only brand defence, on past performance. Also zero negative keyword lists, ~69,000 placement exclusions attached to nothing.</a:t>
            </a:r>
            <a:endParaRPr lang="en-US" sz="1100" dirty="0"/>
          </a:p>
        </p:txBody>
      </p:sp>
      <p:sp>
        <p:nvSpPr>
          <p:cNvPr id="7" name="Text 4"/>
          <p:cNvSpPr/>
          <p:nvPr/>
        </p:nvSpPr>
        <p:spPr>
          <a:xfrm>
            <a:off x="640080" y="5303520"/>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Year on year: cost +75%, conversions -62%, cost per conversion +360%.</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LINKEDIN ADS · ALL MARKETS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Narrow hand-picked audiences failed; broad correct ones worked.</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4572000"/>
                <a:gridCol w="1280160"/>
                <a:gridCol w="1097280"/>
                <a:gridCol w="3776472"/>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controlled test (FR, same offer, same 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Leads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572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3,400 list (51% wrong vertical)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€441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Below LinkedIn's 50K delivery threshold. Starved of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572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Broad 22K audience (correctly targeted)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€444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€148 CPL, 21 leads to life. Won by being larger and correctly targeted.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3703320"/>
          <a:ext cx="10908792" cy="914400"/>
        </p:xfrm>
        <a:graphic>
          <a:graphicData uri="http://schemas.openxmlformats.org/drawingml/2006/table">
            <a:tbl>
              <a:tblPr/>
              <a:tblGrid>
                <a:gridCol w="914400"/>
                <a:gridCol w="5074920"/>
                <a:gridCol w="4736592"/>
              </a:tblGrid>
              <a:tr h="56692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was running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we do</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Narrow account-list ad set live at €20/day, chasing landing-page clicks across 5 countries.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Budget too small to exit learning. Stop it, replace with the broad lead-form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Account-list set paused. Two lead forms (whitepaper + one other) each produced 5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Reuse those two proven forms on a broad Workforce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Narrow play killed. A ready 1.28M-member audience (90%+ match) sat unused.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Build the rebuild on that 1.28M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2"/>
          <p:cNvSpPr/>
          <p:nvPr/>
        </p:nvSpPr>
        <p:spPr>
          <a:xfrm>
            <a:off x="640080" y="5806440"/>
            <a:ext cx="10908792" cy="457200"/>
          </a:xfrm>
          <a:prstGeom prst="rect">
            <a:avLst/>
          </a:prstGeom>
          <a:noFill/>
          <a:ln/>
        </p:spPr>
        <p:txBody>
          <a:bodyPr wrap="square" lIns="0" tIns="0" rIns="0" bIns="0" rtlCol="0" anchor="t"/>
          <a:lstStyle/>
          <a:p>
            <a:pPr indent="0" marL="0">
              <a:lnSpc>
                <a:spcPct val="104000"/>
              </a:lnSpc>
              <a:buNone/>
            </a:pPr>
            <a:r>
              <a:rPr lang="en-US" sz="1100" b="1" dirty="0">
                <a:solidFill>
                  <a:srgbClr val="2F1E4A"/>
                </a:solidFill>
                <a:latin typeface="Calibri" pitchFamily="34" charset="0"/>
                <a:ea typeface="Calibri" pitchFamily="34" charset="-122"/>
                <a:cs typeface="Calibri" pitchFamily="34" charset="-120"/>
              </a:rPr>
              <a:t xml:space="preserve">Efficiency gap:  </a:t>
            </a:r>
            <a:pPr indent="0" marL="0">
              <a:lnSpc>
                <a:spcPct val="104000"/>
              </a:lnSpc>
              <a:buNone/>
            </a:pPr>
            <a:r>
              <a:rPr lang="en-US" sz="1100" dirty="0">
                <a:solidFill>
                  <a:srgbClr val="3C3550"/>
                </a:solidFill>
                <a:latin typeface="Calibri" pitchFamily="34" charset="0"/>
                <a:ea typeface="Calibri" pitchFamily="34" charset="-122"/>
                <a:cs typeface="Calibri" pitchFamily="34" charset="-120"/>
              </a:rPr>
              <a:t>narrow lists cost €184/click vs €8.28 broad. The creative was good (training-gap hook, 4-ad matrix) and carries forward. Targeting and tiny budget were the problem.</a:t>
            </a:r>
            <a:endParaRPr lang="en-US" sz="1100" dirty="0"/>
          </a:p>
        </p:txBody>
      </p:sp>
      <p:sp>
        <p:nvSpPr>
          <p:cNvPr id="7" name="Shape 3"/>
          <p:cNvSpPr/>
          <p:nvPr/>
        </p:nvSpPr>
        <p:spPr>
          <a:xfrm>
            <a:off x="640080" y="6364224"/>
            <a:ext cx="10908792" cy="0"/>
          </a:xfrm>
          <a:prstGeom prst="line">
            <a:avLst/>
          </a:prstGeom>
          <a:noFill/>
          <a:ln w="9525">
            <a:solidFill>
              <a:srgbClr val="D8D5E4"/>
            </a:solidFill>
            <a:prstDash val="solid"/>
          </a:ln>
        </p:spPr>
      </p:sp>
      <p:sp>
        <p:nvSpPr>
          <p:cNvPr id="8"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MICROSOFT ADS · UK + FRANCE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Built by import rather than strategy, and mostly switched off.</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1097280"/>
                <a:gridCol w="4572000"/>
                <a:gridCol w="2377440"/>
                <a:gridCol w="286207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Account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was running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Worst numbers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EN (UK)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Entire account paused. ~€393/day idle. Target CPA set to €6 on hospitality software (real range €100-400+), so it never spent. Helsinki time zone, euros not pounds.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C23058"/>
                          </a:solidFill>
                          <a:latin typeface="Calibri" pitchFamily="34" charset="0"/>
                          <a:ea typeface="Calibri" pitchFamily="34" charset="-122"/>
                          <a:cs typeface="Calibri" pitchFamily="34" charset="-120"/>
                        </a:rPr>
                        <a:t>5 generic KWs: €1,569 / 0 conv</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Rebuild deliberately, do not un-pause. Fix tCPA, time zone, currency.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42 campaigns auto-imported from an external Google account. All CORE on Maximize Clicks. 4 Workforce campaigns (wrong product). Audience Network display running.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C23058"/>
                          </a:solidFill>
                          <a:latin typeface="Calibri" pitchFamily="34" charset="0"/>
                          <a:ea typeface="Calibri" pitchFamily="34" charset="-122"/>
                          <a:cs typeface="Calibri" pitchFamily="34" charset="-120"/>
                        </a:rPr>
                        <a:t>Workforce €785/1 · Audience Network €900/1 (31% of FR spend)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Kill Workforce + Audience Network. Rebuild around Easilys + brand.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3685032"/>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Held up: the French Easilys brand campaign converts at ~€143, the one positive signal and the anchor for the FR rebuild. A 250-keyword Easilys negative list (the best in the account) was attached to zero campaigns.</a:t>
            </a:r>
            <a:endParaRPr lang="en-US" sz="1100" dirty="0"/>
          </a:p>
        </p:txBody>
      </p:sp>
      <p:sp>
        <p:nvSpPr>
          <p:cNvPr id="6" name="Text 3"/>
          <p:cNvSpPr/>
          <p:nvPr/>
        </p:nvSpPr>
        <p:spPr>
          <a:xfrm>
            <a:off x="640080" y="4142232"/>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The real question: Microsoft is effectively a new channel (zero spend a year ago). Not "fix Microsoft" but "decide what Microsoft should be," including a Spain account that does not exist today.</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META ADS · ES + LATAM, FR, UK</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Not unproven. Running 17 months, mostly at the wrong goal.</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Meta ran 17 months and ~€14,958 with no one accountable for whether it worked, and its pixel died ~4 weeks ago unnoticed. Same root cause as the rest of paid.</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3931920"/>
                <a:gridCol w="1828800"/>
                <a:gridCol w="49651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the data shows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Spend on Traffic / Awareness, not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73% (~€10,857)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Buying clicks and reach, not customers. Same disease as Google Maximize Clicks. Biggest line: FR Easilys remarketing €4,482 (Traffic, 0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Audience Network leak (ES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€3,421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ES put 52% of all Spain spend (€2,389) on the lowest-quality placement. FR another €1,031. Same as the Microsoft Audience Network leak.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Lead form (Facebook) vs landing page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€26 vs €84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offer, form 3x cheaper. But scaling waits on tracing these leads to pipeline (same trace as Google). Cheaper to capture, value not yet confirmed.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Pixel status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Dead ~27d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Main pixel stopped firing; 2 Lead + 2 Lead_SQL events in 28d. Four zombie pixels. Lead forms survive only by bypassing the pixel.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Live right now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FR only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€2,899 in last 90d, France only. ES and UK fully paused. Dormant, not scaling.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266944"/>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What we do: exclude Audience Network, fix the pixel, standardise on native lead forms. Trace the leads to pipeline before scaling. The growth team's video runs inside the lead-form structure, where it converts, not as standalone awareness.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WHAT THE AUCTIONS ACTUALLY SHOW</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We were partly bidding against a competitor set that is not there.</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set assumed in HQ planning does not match the live auctions. That gap is itself a finding: spend aimed at the assumed fight is partly wasted. Targeting now follows the observed competition.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011680"/>
                <a:gridCol w="4572000"/>
                <a:gridCol w="414223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 actually shows up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means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France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Lightspeed dominant (top of ~52% of auctions), Skello primary rival, Sage present.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point-of-sale and Easilys fight. Confirms keeping Workforce out and consolidating on Easilys.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Iberia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HR and payroll tools (tramitapp, factorial). No Lightspeed.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Workforce stays the local flagship, but messaging competes on the HR / payroll axis, not POS.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UK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LMS and training tools (Absorb and similar) alongside the POS names.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Flow's training-to-execution angle (the creative that held up) is on the right axis.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Cross-market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workforce names HQ assumes (Fourth, Deputy and similar) barely appear anywhere.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Planning against an imagined competitor wastes spend. We plan against the observed 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4846320"/>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Brand defence matters most where rivals actively bid on Mapal terms, confirmed in France on Bing where competitors appear in 1 to 56% of Mapal-brand auctions.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PATTERNS UNDERNEATH</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Six strategy errors repeat across every account.</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640080"/>
                <a:gridCol w="4023360"/>
                <a:gridCol w="6245352"/>
              </a:tblGrid>
              <a:tr h="5669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Where it shows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Volume-not-value bidding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Maximize Clicks on Google's biggest campaigns in ES, UK and FR Microsoft. Same on Meta, where 73% of spend chased clicks and reach, not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Narrow hand-picked LinkedIn audiences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Account lists below the delivery threshold, starved of the signal the algorithm needs to improve.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Brand defence switched off</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cheapest, highest-intent campaign type, paused on two engines while competitors bid on Mapal terms.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Spend on products a market cannot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 Microsoft Workforce, LATAM Workforce. The product-market map was not the operating filter.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Operating against a broken signal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Conversion events removed, inactive, or never firing across Google, LinkedIn, Microsoft. The Meta pixel has been dead ~4 weeks too.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66928">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Budget leaking to the worst placements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Audience Network, and the same on Meta: €3,421 over 17 months on the lowest-quality network, on a B2B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Shape 2"/>
          <p:cNvSpPr/>
          <p:nvPr/>
        </p:nvSpPr>
        <p:spPr>
          <a:xfrm>
            <a:off x="640080" y="6364224"/>
            <a:ext cx="10908792" cy="0"/>
          </a:xfrm>
          <a:prstGeom prst="line">
            <a:avLst/>
          </a:prstGeom>
          <a:noFill/>
          <a:ln w="9525">
            <a:solidFill>
              <a:srgbClr val="D8D5E4"/>
            </a:solidFill>
            <a:prstDash val="solid"/>
          </a:ln>
        </p:spPr>
      </p:sp>
      <p:sp>
        <p:nvSpPr>
          <p:cNvPr id="6" name="Text 3"/>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7" name="Text 4"/>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WASTE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What was spent with no return, and what we can get back.</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Each line is 90-day spend on a campaign that returned zero or near-zero conversions and was structurally wrong. The annual column assumes the pattern continues.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5029200"/>
                <a:gridCol w="2377440"/>
                <a:gridCol w="1691640"/>
                <a:gridCol w="162763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90d, no return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If it continues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Workforce-ES Search, mobile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€6,593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€26,755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keyword spread (52 KWs, 12 variants)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€9,160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€37,160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Hospitality Jobs audience leak (5 of 6 wrong)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UK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€5,356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€21,737</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Spain Display, 4 new launches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Google / 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€3,156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€12,806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Microsoft Audience Network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€901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€3,656</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FR Microsoft Workforce (4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Microsoft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€785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€3,185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 Audience Network (17-mo figure)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Meta / ES + FR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C23058"/>
                          </a:solidFill>
                          <a:latin typeface="Calibri" pitchFamily="34" charset="0"/>
                          <a:ea typeface="Calibri" pitchFamily="34" charset="-122"/>
                          <a:cs typeface="Calibri" pitchFamily="34" charset="-120"/>
                        </a:rPr>
                        <a:t>€3,421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17-mo total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Observed total (Google + Microsoft, 90d)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~€26,000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1E4A"/>
                          </a:solidFill>
                          <a:latin typeface="Calibri" pitchFamily="34" charset="0"/>
                          <a:ea typeface="Calibri" pitchFamily="34" charset="-122"/>
                          <a:cs typeface="Calibri" pitchFamily="34" charset="-120"/>
                        </a:rPr>
                        <a:t>~€105,000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6528816"/>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Conservative recovery €35-55K/yr. Optimistic €70-100K/yr if the tracking fix confirms the waste and the lead-form model scales. Banked ~€9,000/yr from stopping failed LinkedIn ABM.</a:t>
            </a:r>
            <a:endParaRPr lang="en-US" sz="1100" dirty="0"/>
          </a:p>
        </p:txBody>
      </p:sp>
      <p:sp>
        <p:nvSpPr>
          <p:cNvPr id="7" name="Text 4"/>
          <p:cNvSpPr/>
          <p:nvPr/>
        </p:nvSpPr>
        <p:spPr>
          <a:xfrm>
            <a:off x="640080" y="6986016"/>
            <a:ext cx="10908792" cy="274320"/>
          </a:xfrm>
          <a:prstGeom prst="rect">
            <a:avLst/>
          </a:prstGeom>
          <a:noFill/>
          <a:ln/>
        </p:spPr>
        <p:txBody>
          <a:bodyPr wrap="square" lIns="0" tIns="0" rIns="0" bIns="0" rtlCol="0" anchor="t"/>
          <a:lstStyle/>
          <a:p>
            <a:pPr indent="0" marL="0">
              <a:buNone/>
            </a:pPr>
            <a:r>
              <a:rPr lang="en-US" sz="1100" b="1" dirty="0">
                <a:solidFill>
                  <a:srgbClr val="C23058"/>
                </a:solidFill>
                <a:latin typeface="Calibri" pitchFamily="34" charset="0"/>
                <a:ea typeface="Calibri" pitchFamily="34" charset="-122"/>
                <a:cs typeface="Calibri" pitchFamily="34" charset="-120"/>
              </a:rPr>
              <a:t>Meta Audience Network is a 17-mo figure on a different clock, not in the 90-day total. The ~€10,857 Meta spent on wrong objectives is redeployable, not waste.</a:t>
            </a:r>
            <a:endParaRPr lang="en-US" sz="1100" dirty="0"/>
          </a:p>
        </p:txBody>
      </p:sp>
      <p:sp>
        <p:nvSpPr>
          <p:cNvPr id="8" name="Shape 5"/>
          <p:cNvSpPr/>
          <p:nvPr/>
        </p:nvSpPr>
        <p:spPr>
          <a:xfrm>
            <a:off x="640080" y="6364224"/>
            <a:ext cx="10908792" cy="0"/>
          </a:xfrm>
          <a:prstGeom prst="line">
            <a:avLst/>
          </a:prstGeom>
          <a:noFill/>
          <a:ln w="9525">
            <a:solidFill>
              <a:srgbClr val="D8D5E4"/>
            </a:solidFill>
            <a:prstDash val="solid"/>
          </a:ln>
        </p:spPr>
      </p:sp>
      <p:sp>
        <p:nvSpPr>
          <p:cNvPr id="9" name="Text 6"/>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10" name="Text 7"/>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WE REBUILD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Four on Google, three on LinkedIn, two on Microsoft, three on Meta.</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Every campaign funded above the platform's learning threshold, tied to one flagship product or audience, measured against a working conversion.</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2834640"/>
                <a:gridCol w="2697480"/>
                <a:gridCol w="2606040"/>
                <a:gridCol w="2587752"/>
              </a:tblGrid>
              <a:tr h="65836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Google · 4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LinkedIn · 3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Microsoft · 2 /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Meta · 3 / active market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always on, manual / impression share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 form, broad ICP: built toward / above 50K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captures 5-10% Google misses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Native lead form: cheaper format; scale once leads traced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Flagship search: conversion bidding, 30+ conv/mo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Sponsored content: mid-funnel, builds retarget pool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Generic high-intent: MS-specific keyword variants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Conversion remarketing: replaces reach-buying</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Generic high-intent: cross-product demand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Retargeting: engaged audiences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6A6478"/>
                          </a:solidFill>
                          <a:latin typeface="Calibri" pitchFamily="34" charset="0"/>
                          <a:ea typeface="Calibri" pitchFamily="34" charset="-122"/>
                          <a:cs typeface="Calibri" pitchFamily="34" charset="-120"/>
                        </a:rPr>
                        <a:t>(Open a Spain account, Q3, none today)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Video in lead-form: the growth team's creative, not standalone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58368">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Demand Gen + remarketing: one clean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457200"/>
          </a:xfrm>
          <a:prstGeom prst="rect">
            <a:avLst/>
          </a:prstGeom>
          <a:noFill/>
          <a:ln/>
        </p:spPr>
        <p:txBody>
          <a:bodyPr wrap="square" lIns="0" tIns="0" rIns="0" bIns="0" rtlCol="0" anchor="t"/>
          <a:lstStyle/>
          <a:p>
            <a:pPr indent="0" marL="0">
              <a:lnSpc>
                <a:spcPct val="104000"/>
              </a:lnSpc>
              <a:buNone/>
            </a:pPr>
            <a:r>
              <a:rPr lang="en-US" sz="1100" b="1" dirty="0">
                <a:solidFill>
                  <a:srgbClr val="2F1E4A"/>
                </a:solidFill>
                <a:latin typeface="Calibri" pitchFamily="34" charset="0"/>
                <a:ea typeface="Calibri" pitchFamily="34" charset="-122"/>
                <a:cs typeface="Calibri" pitchFamily="34" charset="-120"/>
              </a:rPr>
              <a:t xml:space="preserve">Before Meta scales:  </a:t>
            </a:r>
            <a:pPr indent="0" marL="0">
              <a:lnSpc>
                <a:spcPct val="104000"/>
              </a:lnSpc>
              <a:buNone/>
            </a:pPr>
            <a:r>
              <a:rPr lang="en-US" sz="1100" dirty="0">
                <a:solidFill>
                  <a:srgbClr val="3C3550"/>
                </a:solidFill>
                <a:latin typeface="Calibri" pitchFamily="34" charset="0"/>
                <a:ea typeface="Calibri" pitchFamily="34" charset="-122"/>
                <a:cs typeface="Calibri" pitchFamily="34" charset="-120"/>
              </a:rPr>
              <a:t>exclude Audience Network, fix the pixel, delete the 4 zombie pixels. ~33 campaigns total across four platforms: one person can run weekly hygiene across that; the current sprawl cannot be run well by anyone.</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WHAT WE KEEP, AND EXACTLY WHY</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Nothing is switched back on as it was.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Anything kept is rebuilt to the naming convention, given a working conversion, and put on the correct bid strategy. Two things earn their place.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Brand defence (UK Google + Microsoft)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broad lead-form model (from France)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41732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Why it earns its place: </a:t>
                      </a:r>
                      <a:pPr algn="l" indent="0" marL="0">
                        <a:buNone/>
                      </a:pPr>
                      <a:r>
                        <a:rPr lang="en-US" sz="1100" dirty="0">
                          <a:solidFill>
                            <a:srgbClr val="3C3550"/>
                          </a:solidFill>
                          <a:latin typeface="Calibri" pitchFamily="34" charset="0"/>
                          <a:ea typeface="Calibri" pitchFamily="34" charset="-122"/>
                          <a:cs typeface="Calibri" pitchFamily="34" charset="-120"/>
                        </a:rPr>
                        <a:t>before it was paused it ran at €13.64 cost per conversion across 162 conversions, the cheapest converting campaign in the account. While off, competitors take branded demand that is ours.</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Why it earns its place: </a:t>
                      </a:r>
                      <a:pPr algn="l" indent="0" marL="0">
                        <a:buNone/>
                      </a:pPr>
                      <a:r>
                        <a:rPr lang="en-US" sz="1100" dirty="0">
                          <a:solidFill>
                            <a:srgbClr val="3C3550"/>
                          </a:solidFill>
                          <a:latin typeface="Calibri" pitchFamily="34" charset="0"/>
                          <a:ea typeface="Calibri" pitchFamily="34" charset="-122"/>
                          <a:cs typeface="Calibri" pitchFamily="34" charset="-120"/>
                        </a:rPr>
                        <a:t>it is the only LinkedIn campaign that produced leads at a sensible cost on a correctly-targeted audience (€148 CPL, 21 leads to date).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41732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How we keep it: </a:t>
                      </a:r>
                      <a:pPr algn="l" indent="0" marL="0">
                        <a:buNone/>
                      </a:pPr>
                      <a:r>
                        <a:rPr lang="en-US" sz="1100" dirty="0">
                          <a:solidFill>
                            <a:srgbClr val="3C3550"/>
                          </a:solidFill>
                          <a:latin typeface="Calibri" pitchFamily="34" charset="0"/>
                          <a:ea typeface="Calibri" pitchFamily="34" charset="-122"/>
                          <a:cs typeface="Calibri" pitchFamily="34" charset="-120"/>
                        </a:rPr>
                        <a:t>rebuild (not un-pause) to the naming convention, on a brand-appropriate bid strategy (never Maximize Clicks), with a clean conversion attached, small daily budget, monitored weekly.</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How we keep it: </a:t>
                      </a:r>
                      <a:pPr algn="l" indent="0" marL="0">
                        <a:buNone/>
                      </a:pPr>
                      <a:r>
                        <a:rPr lang="en-US" sz="1100" dirty="0">
                          <a:solidFill>
                            <a:srgbClr val="3C3550"/>
                          </a:solidFill>
                          <a:latin typeface="Calibri" pitchFamily="34" charset="0"/>
                          <a:ea typeface="Calibri" pitchFamily="34" charset="-122"/>
                          <a:cs typeface="Calibri" pitchFamily="34" charset="-120"/>
                        </a:rPr>
                        <a:t>replicate the structure (broad ICP, native lead form, single offer) to the UK and Spain. We keep the model, not the specific French ad set.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6053328"/>
            <a:ext cx="10908792" cy="365760"/>
          </a:xfrm>
          <a:prstGeom prst="rect">
            <a:avLst/>
          </a:prstGeom>
          <a:noFill/>
          <a:ln/>
        </p:spPr>
        <p:txBody>
          <a:bodyPr wrap="square" lIns="0" tIns="0" rIns="0" bIns="0" rtlCol="0" anchor="t"/>
          <a:lstStyle/>
          <a:p>
            <a:pPr indent="0" marL="0">
              <a:buNone/>
            </a:pPr>
            <a:r>
              <a:rPr lang="en-US" sz="1150" i="1" dirty="0">
                <a:solidFill>
                  <a:srgbClr val="6A6478"/>
                </a:solidFill>
                <a:latin typeface="Calibri" pitchFamily="34" charset="0"/>
                <a:ea typeface="Calibri" pitchFamily="34" charset="-122"/>
                <a:cs typeface="Calibri" pitchFamily="34" charset="-120"/>
              </a:rPr>
              <a:t>Everything else is killed, consolidated, or rebuilt from scratch.</a:t>
            </a:r>
            <a:endParaRPr lang="en-US" sz="11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This is more than a few campaigns. The real scale: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679192"/>
                <a:gridCol w="2679192"/>
                <a:gridCol w="2679192"/>
                <a:gridCol w="2688336"/>
              </a:tblGrid>
              <a:tr h="67665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Kill</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Consolidate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Pause / attach now</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Rebuild (from mid-June)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Last live narrow LinkedIn ad set (EN)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12 FR Easilys variants to 1 campaign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Pause Workforce-ES mobile (-€2,200/mo)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Brand defence, UK Google + 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4 FR Microsoft Workforce campaigns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3 FR Easilys lead-form plays to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Remove 5 wrong audience attachments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Lead-form playbook: UK Flow + ES Workforce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FR Microsoft Audience Network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"logiciel restauration collective" 3 to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 250-KW Easilys neg list (FR MS)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A/B video + Blog 2 ads, broad ICP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76656">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Auto-apply recommendations, all 3 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Attach orphaned remarketing + exclusions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Neg KW libraries (UK) + ES exclusions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5852160"/>
            <a:ext cx="10908792" cy="457200"/>
          </a:xfrm>
          <a:prstGeom prst="rect">
            <a:avLst/>
          </a:prstGeom>
          <a:noFill/>
          <a:ln/>
        </p:spPr>
        <p:txBody>
          <a:bodyPr wrap="square" lIns="0" tIns="0" rIns="0" bIns="0" rtlCol="0" anchor="t"/>
          <a:lstStyle/>
          <a:p>
            <a:pPr indent="0" marL="0">
              <a:lnSpc>
                <a:spcPct val="103000"/>
              </a:lnSpc>
              <a:buNone/>
            </a:pPr>
            <a:r>
              <a:rPr lang="en-US" sz="1050" dirty="0">
                <a:solidFill>
                  <a:srgbClr val="6A6478"/>
                </a:solidFill>
                <a:latin typeface="Calibri" pitchFamily="34" charset="0"/>
                <a:ea typeface="Calibri" pitchFamily="34" charset="-122"/>
                <a:cs typeface="Calibri" pitchFamily="34" charset="-120"/>
              </a:rPr>
              <a:t>Plus cleanup: 18 removed FR conversions still primary, the defunct ES "Compra" conversion, legacy 2020-21 LinkedIn audiences, orphaned shared-library items. Bid migration to conversion bidding follows the tracking fix.</a:t>
            </a:r>
            <a:endParaRPr lang="en-US" sz="105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BUDGET + DEPENDENCIES</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Concentrated spend, funded by cutting waste and scaled as it proves out.</a:t>
            </a:r>
            <a:endParaRPr lang="en-US" sz="2600" dirty="0"/>
          </a:p>
        </p:txBody>
      </p:sp>
      <p:sp>
        <p:nvSpPr>
          <p:cNvPr id="5" name="Text 2"/>
          <p:cNvSpPr/>
          <p:nvPr/>
        </p:nvSpPr>
        <p:spPr>
          <a:xfrm>
            <a:off x="640080" y="4434840"/>
            <a:ext cx="10908792" cy="548640"/>
          </a:xfrm>
          <a:prstGeom prst="rect">
            <a:avLst/>
          </a:prstGeom>
          <a:noFill/>
          <a:ln/>
        </p:spPr>
        <p:txBody>
          <a:bodyPr wrap="square" lIns="0" tIns="0" rIns="0" bIns="0" rtlCol="0" anchor="t"/>
          <a:lstStyle/>
          <a:p>
            <a:pPr indent="0" marL="0">
              <a:lnSpc>
                <a:spcPct val="105000"/>
              </a:lnSpc>
              <a:buNone/>
            </a:pPr>
            <a:r>
              <a:rPr lang="en-US" sz="1100" b="1" dirty="0">
                <a:solidFill>
                  <a:srgbClr val="2F1E4A"/>
                </a:solidFill>
                <a:latin typeface="Calibri" pitchFamily="34" charset="0"/>
                <a:ea typeface="Calibri" pitchFamily="34" charset="-122"/>
                <a:cs typeface="Calibri" pitchFamily="34" charset="-120"/>
              </a:rPr>
              <a:t xml:space="preserve">Iberia social now sits ahead of UK social for the period. Top-ups beyond the firm 110,000 euro floor are staged and deployed only on confirmation.</a:t>
            </a:r>
            <a:pPr indent="0" marL="0">
              <a:lnSpc>
                <a:spcPct val="105000"/>
              </a:lnSpc>
              <a:buNone/>
            </a:pPr>
            <a:endParaRPr lang="en-US" sz="11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40080" y="5074920"/>
          <a:ext cx="10908792" cy="914400"/>
        </p:xfrm>
        <a:graphic>
          <a:graphicData uri="http://schemas.openxmlformats.org/drawingml/2006/table">
            <a:tbl>
              <a:tblPr/>
              <a:tblGrid>
                <a:gridCol w="3794760"/>
                <a:gridCol w="6931152"/>
              </a:tblGrid>
              <a:tr h="31089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Depends 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unlocks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Conversion-signal fix (us + website lead)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Unlocks conversion-based bidding. A site dataLayer break (migration), ours + the website lead's. Gates measurement, not lead gen.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UTM model + Dynamics sizing (us)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New paid leads roll up to a campaign. Dynamics already gives 120 opps / ~€1.05M now; UTMs give the same in HubSpot.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Cross-system attribution + legacy re-map (RevOps)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UTMs to deal records, campaign write-back, stop Dynamics overwriting source, plus the legacy re-map. Verify first.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310896">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Consolidation sign-off (leadership)</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Cutting campaign count reads as "doing less" without the rationale.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7" name="Shape 3"/>
          <p:cNvSpPr/>
          <p:nvPr/>
        </p:nvSpPr>
        <p:spPr>
          <a:xfrm>
            <a:off x="640080" y="6364224"/>
            <a:ext cx="10908792" cy="0"/>
          </a:xfrm>
          <a:prstGeom prst="line">
            <a:avLst/>
          </a:prstGeom>
          <a:noFill/>
          <a:ln w="9525">
            <a:solidFill>
              <a:srgbClr val="D8D5E4"/>
            </a:solidFill>
            <a:prstDash val="solid"/>
          </a:ln>
        </p:spPr>
      </p:sp>
      <p:sp>
        <p:nvSpPr>
          <p:cNvPr id="8"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36" name="Table 35"/>
          <p:cNvGraphicFramePr>
            <a:graphicFrameLocks noGrp="1"/>
          </p:cNvGraphicFramePr>
          <p:nvPr/>
        </p:nvGraphicFramePr>
        <p:xfrm>
          <a:off x="640080" y="2240280"/>
          <a:ext cx="10908792" cy="1810512"/>
        </p:xfrm>
        <a:graphic>
          <a:graphicData uri="http://schemas.openxmlformats.org/drawingml/2006/table">
            <a:tbl>
              <a:tblPr>
                <a:tableStyleId>{5C22544A-7EE6-4342-B048-85BDC9FD1C3A}</a:tableStyleId>
              </a:tblPr>
              <a:tblGrid>
                <a:gridCol w="2286000"/>
                <a:gridCol w="1828800"/>
                <a:gridCol w="1828800"/>
                <a:gridCol w="2221992"/>
                <a:gridCol w="2743200"/>
              </a:tblGrid>
              <a:tr h="301752">
                <a:tc>
                  <a:txBody>
                    <a:bodyPr wrap="square"/>
                    <a:lstStyle/>
                    <a:p>
                      <a:r>
                        <a:rPr sz="1000" b="1">
                          <a:solidFill>
                            <a:srgbClr val="FFFFFF"/>
                          </a:solidFill>
                          <a:latin typeface="Calibri"/>
                        </a:rPr>
                        <a:t>Market</a:t>
                      </a:r>
                    </a:p>
                  </a:txBody>
                  <a:tcPr marL="73152" marR="73152" marT="27432" marB="27432" anchor="ctr">
                    <a:solidFill>
                      <a:srgbClr val="2F1E4A"/>
                    </a:solidFill>
                  </a:tcPr>
                </a:tc>
                <a:tc>
                  <a:txBody>
                    <a:bodyPr wrap="square"/>
                    <a:lstStyle/>
                    <a:p>
                      <a:pPr algn="r"/>
                      <a:r>
                        <a:rPr sz="1000" b="1">
                          <a:solidFill>
                            <a:srgbClr val="FFFFFF"/>
                          </a:solidFill>
                          <a:latin typeface="Calibri"/>
                        </a:rPr>
                        <a:t>Paid search</a:t>
                      </a:r>
                    </a:p>
                  </a:txBody>
                  <a:tcPr marL="73152" marR="73152" marT="27432" marB="27432" anchor="ctr">
                    <a:solidFill>
                      <a:srgbClr val="2F1E4A"/>
                    </a:solidFill>
                  </a:tcPr>
                </a:tc>
                <a:tc>
                  <a:txBody>
                    <a:bodyPr wrap="square"/>
                    <a:lstStyle/>
                    <a:p>
                      <a:pPr algn="r"/>
                      <a:r>
                        <a:rPr sz="1000" b="1">
                          <a:solidFill>
                            <a:srgbClr val="FFFFFF"/>
                          </a:solidFill>
                          <a:latin typeface="Calibri"/>
                        </a:rPr>
                        <a:t>Paid social</a:t>
                      </a:r>
                    </a:p>
                  </a:txBody>
                  <a:tcPr marL="73152" marR="73152" marT="27432" marB="27432" anchor="ctr">
                    <a:solidFill>
                      <a:srgbClr val="2F1E4A"/>
                    </a:solidFill>
                  </a:tcPr>
                </a:tc>
                <a:tc>
                  <a:txBody>
                    <a:bodyPr wrap="square"/>
                    <a:lstStyle/>
                    <a:p>
                      <a:pPr algn="r"/>
                      <a:r>
                        <a:rPr sz="1000" b="1">
                          <a:solidFill>
                            <a:srgbClr val="FFFFFF"/>
                          </a:solidFill>
                          <a:latin typeface="Calibri"/>
                        </a:rPr>
                        <a:t>Total Jun-Dec</a:t>
                      </a:r>
                    </a:p>
                  </a:txBody>
                  <a:tcPr marL="73152" marR="73152" marT="27432" marB="27432" anchor="ctr">
                    <a:solidFill>
                      <a:srgbClr val="2F1E4A"/>
                    </a:solidFill>
                  </a:tcPr>
                </a:tc>
                <a:tc>
                  <a:txBody>
                    <a:bodyPr wrap="square"/>
                    <a:lstStyle/>
                    <a:p>
                      <a:pPr algn="r"/>
                      <a:r>
                        <a:rPr sz="1000" b="1">
                          <a:solidFill>
                            <a:srgbClr val="FFFFFF"/>
                          </a:solidFill>
                          <a:latin typeface="Calibri"/>
                        </a:rPr>
                        <a:t>Full-year (approx)</a:t>
                      </a:r>
                    </a:p>
                  </a:txBody>
                  <a:tcPr marL="73152" marR="73152" marT="27432" marB="27432" anchor="ctr">
                    <a:solidFill>
                      <a:srgbClr val="2F1E4A"/>
                    </a:solidFill>
                  </a:tcPr>
                </a:tc>
              </a:tr>
              <a:tr h="301752">
                <a:tc>
                  <a:txBody>
                    <a:bodyPr wrap="square"/>
                    <a:lstStyle/>
                    <a:p>
                      <a:r>
                        <a:rPr sz="1050" b="1">
                          <a:solidFill>
                            <a:srgbClr val="2F1E4A"/>
                          </a:solidFill>
                          <a:latin typeface="Calibri"/>
                        </a:rPr>
                        <a:t>France</a:t>
                      </a:r>
                    </a:p>
                  </a:txBody>
                  <a:tcPr marL="73152" marR="73152" marT="27432" marB="27432" anchor="ctr">
                    <a:noFill/>
                  </a:tcPr>
                </a:tc>
                <a:tc>
                  <a:txBody>
                    <a:bodyPr wrap="square"/>
                    <a:lstStyle/>
                    <a:p>
                      <a:pPr algn="r"/>
                      <a:r>
                        <a:rPr sz="1050" b="0">
                          <a:solidFill>
                            <a:srgbClr val="3C3550"/>
                          </a:solidFill>
                          <a:latin typeface="Calibri"/>
                        </a:rPr>
                        <a:t>32,000</a:t>
                      </a:r>
                    </a:p>
                  </a:txBody>
                  <a:tcPr marL="73152" marR="73152" marT="27432" marB="27432" anchor="ctr">
                    <a:noFill/>
                  </a:tcPr>
                </a:tc>
                <a:tc>
                  <a:txBody>
                    <a:bodyPr wrap="square"/>
                    <a:lstStyle/>
                    <a:p>
                      <a:pPr algn="r"/>
                      <a:r>
                        <a:rPr sz="1050" b="0">
                          <a:solidFill>
                            <a:srgbClr val="3C3550"/>
                          </a:solidFill>
                          <a:latin typeface="Calibri"/>
                        </a:rPr>
                        <a:t>11,000</a:t>
                      </a:r>
                    </a:p>
                  </a:txBody>
                  <a:tcPr marL="73152" marR="73152" marT="27432" marB="27432" anchor="ctr">
                    <a:noFill/>
                  </a:tcPr>
                </a:tc>
                <a:tc>
                  <a:txBody>
                    <a:bodyPr wrap="square"/>
                    <a:lstStyle/>
                    <a:p>
                      <a:pPr algn="r"/>
                      <a:r>
                        <a:rPr sz="1050" b="0">
                          <a:solidFill>
                            <a:srgbClr val="3C3550"/>
                          </a:solidFill>
                          <a:latin typeface="Calibri"/>
                        </a:rPr>
                        <a:t>43,000</a:t>
                      </a:r>
                    </a:p>
                  </a:txBody>
                  <a:tcPr marL="73152" marR="73152" marT="27432" marB="27432" anchor="ctr">
                    <a:noFill/>
                  </a:tcPr>
                </a:tc>
                <a:tc>
                  <a:txBody>
                    <a:bodyPr wrap="square"/>
                    <a:lstStyle/>
                    <a:p>
                      <a:pPr algn="r"/>
                      <a:r>
                        <a:rPr sz="1050" b="0">
                          <a:solidFill>
                            <a:srgbClr val="3C3550"/>
                          </a:solidFill>
                          <a:latin typeface="Calibri"/>
                        </a:rPr>
                        <a:t>~96,500</a:t>
                      </a:r>
                    </a:p>
                  </a:txBody>
                  <a:tcPr marL="73152" marR="73152" marT="27432" marB="27432" anchor="ctr">
                    <a:noFill/>
                  </a:tcPr>
                </a:tc>
              </a:tr>
              <a:tr h="301752">
                <a:tc>
                  <a:txBody>
                    <a:bodyPr wrap="square"/>
                    <a:lstStyle/>
                    <a:p>
                      <a:r>
                        <a:rPr sz="1050" b="1">
                          <a:solidFill>
                            <a:srgbClr val="2F1E4A"/>
                          </a:solidFill>
                          <a:latin typeface="Calibri"/>
                        </a:rPr>
                        <a:t>UK</a:t>
                      </a:r>
                    </a:p>
                  </a:txBody>
                  <a:tcPr marL="73152" marR="73152" marT="27432" marB="27432" anchor="ctr">
                    <a:noFill/>
                  </a:tcPr>
                </a:tc>
                <a:tc>
                  <a:txBody>
                    <a:bodyPr wrap="square"/>
                    <a:lstStyle/>
                    <a:p>
                      <a:pPr algn="r"/>
                      <a:r>
                        <a:rPr sz="1050" b="0">
                          <a:solidFill>
                            <a:srgbClr val="3C3550"/>
                          </a:solidFill>
                          <a:latin typeface="Calibri"/>
                        </a:rPr>
                        <a:t>27,000</a:t>
                      </a:r>
                    </a:p>
                  </a:txBody>
                  <a:tcPr marL="73152" marR="73152" marT="27432" marB="27432" anchor="ctr">
                    <a:noFill/>
                  </a:tcPr>
                </a:tc>
                <a:tc>
                  <a:txBody>
                    <a:bodyPr wrap="square"/>
                    <a:lstStyle/>
                    <a:p>
                      <a:pPr algn="r"/>
                      <a:r>
                        <a:rPr sz="1050" b="0">
                          <a:solidFill>
                            <a:srgbClr val="3C3550"/>
                          </a:solidFill>
                          <a:latin typeface="Calibri"/>
                        </a:rPr>
                        <a:t>8,000</a:t>
                      </a:r>
                    </a:p>
                  </a:txBody>
                  <a:tcPr marL="73152" marR="73152" marT="27432" marB="27432" anchor="ctr">
                    <a:noFill/>
                  </a:tcPr>
                </a:tc>
                <a:tc>
                  <a:txBody>
                    <a:bodyPr wrap="square"/>
                    <a:lstStyle/>
                    <a:p>
                      <a:pPr algn="r"/>
                      <a:r>
                        <a:rPr sz="1050" b="0">
                          <a:solidFill>
                            <a:srgbClr val="3C3550"/>
                          </a:solidFill>
                          <a:latin typeface="Calibri"/>
                        </a:rPr>
                        <a:t>35,000</a:t>
                      </a:r>
                    </a:p>
                  </a:txBody>
                  <a:tcPr marL="73152" marR="73152" marT="27432" marB="27432" anchor="ctr">
                    <a:noFill/>
                  </a:tcPr>
                </a:tc>
                <a:tc>
                  <a:txBody>
                    <a:bodyPr wrap="square"/>
                    <a:lstStyle/>
                    <a:p>
                      <a:pPr algn="r"/>
                      <a:r>
                        <a:rPr sz="1050" b="0">
                          <a:solidFill>
                            <a:srgbClr val="3C3550"/>
                          </a:solidFill>
                          <a:latin typeface="Calibri"/>
                        </a:rPr>
                        <a:t>~83,300</a:t>
                      </a:r>
                    </a:p>
                  </a:txBody>
                  <a:tcPr marL="73152" marR="73152" marT="27432" marB="27432" anchor="ctr">
                    <a:noFill/>
                  </a:tcPr>
                </a:tc>
              </a:tr>
              <a:tr h="301752">
                <a:tc>
                  <a:txBody>
                    <a:bodyPr wrap="square"/>
                    <a:lstStyle/>
                    <a:p>
                      <a:r>
                        <a:rPr sz="1050" b="1">
                          <a:solidFill>
                            <a:srgbClr val="2F1E4A"/>
                          </a:solidFill>
                          <a:latin typeface="Calibri"/>
                        </a:rPr>
                        <a:t>Iberia</a:t>
                      </a:r>
                    </a:p>
                  </a:txBody>
                  <a:tcPr marL="73152" marR="73152" marT="27432" marB="27432" anchor="ctr">
                    <a:noFill/>
                  </a:tcPr>
                </a:tc>
                <a:tc>
                  <a:txBody>
                    <a:bodyPr wrap="square"/>
                    <a:lstStyle/>
                    <a:p>
                      <a:pPr algn="r"/>
                      <a:r>
                        <a:rPr sz="1050" b="0">
                          <a:solidFill>
                            <a:srgbClr val="3C3550"/>
                          </a:solidFill>
                          <a:latin typeface="Calibri"/>
                        </a:rPr>
                        <a:t>20,000</a:t>
                      </a:r>
                    </a:p>
                  </a:txBody>
                  <a:tcPr marL="73152" marR="73152" marT="27432" marB="27432" anchor="ctr">
                    <a:noFill/>
                  </a:tcPr>
                </a:tc>
                <a:tc>
                  <a:txBody>
                    <a:bodyPr wrap="square"/>
                    <a:lstStyle/>
                    <a:p>
                      <a:pPr algn="r"/>
                      <a:r>
                        <a:rPr sz="1050" b="0">
                          <a:solidFill>
                            <a:srgbClr val="3C3550"/>
                          </a:solidFill>
                          <a:latin typeface="Calibri"/>
                        </a:rPr>
                        <a:t>9,500</a:t>
                      </a:r>
                    </a:p>
                  </a:txBody>
                  <a:tcPr marL="73152" marR="73152" marT="27432" marB="27432" anchor="ctr">
                    <a:noFill/>
                  </a:tcPr>
                </a:tc>
                <a:tc>
                  <a:txBody>
                    <a:bodyPr wrap="square"/>
                    <a:lstStyle/>
                    <a:p>
                      <a:pPr algn="r"/>
                      <a:r>
                        <a:rPr sz="1050" b="0">
                          <a:solidFill>
                            <a:srgbClr val="3C3550"/>
                          </a:solidFill>
                          <a:latin typeface="Calibri"/>
                        </a:rPr>
                        <a:t>29,500</a:t>
                      </a:r>
                    </a:p>
                  </a:txBody>
                  <a:tcPr marL="73152" marR="73152" marT="27432" marB="27432" anchor="ctr">
                    <a:noFill/>
                  </a:tcPr>
                </a:tc>
                <a:tc>
                  <a:txBody>
                    <a:bodyPr wrap="square"/>
                    <a:lstStyle/>
                    <a:p>
                      <a:pPr algn="r"/>
                      <a:r>
                        <a:rPr sz="1050" b="0">
                          <a:solidFill>
                            <a:srgbClr val="3C3550"/>
                          </a:solidFill>
                          <a:latin typeface="Calibri"/>
                        </a:rPr>
                        <a:t>~67,200</a:t>
                      </a:r>
                    </a:p>
                  </a:txBody>
                  <a:tcPr marL="73152" marR="73152" marT="27432" marB="27432" anchor="ctr">
                    <a:noFill/>
                  </a:tcPr>
                </a:tc>
              </a:tr>
              <a:tr h="301752">
                <a:tc>
                  <a:txBody>
                    <a:bodyPr wrap="square"/>
                    <a:lstStyle/>
                    <a:p>
                      <a:r>
                        <a:rPr sz="1050" b="1">
                          <a:solidFill>
                            <a:srgbClr val="2F1E4A"/>
                          </a:solidFill>
                          <a:latin typeface="Calibri"/>
                        </a:rPr>
                        <a:t>LATAM (MX)</a:t>
                      </a:r>
                    </a:p>
                  </a:txBody>
                  <a:tcPr marL="73152" marR="73152" marT="27432" marB="27432" anchor="ctr">
                    <a:noFill/>
                  </a:tcPr>
                </a:tc>
                <a:tc>
                  <a:txBody>
                    <a:bodyPr wrap="square"/>
                    <a:lstStyle/>
                    <a:p>
                      <a:pPr algn="r"/>
                      <a:r>
                        <a:rPr sz="1050" b="0">
                          <a:solidFill>
                            <a:srgbClr val="3C3550"/>
                          </a:solidFill>
                          <a:latin typeface="Calibri"/>
                        </a:rPr>
                        <a:t>1,500</a:t>
                      </a:r>
                    </a:p>
                  </a:txBody>
                  <a:tcPr marL="73152" marR="73152" marT="27432" marB="27432" anchor="ctr">
                    <a:noFill/>
                  </a:tcPr>
                </a:tc>
                <a:tc>
                  <a:txBody>
                    <a:bodyPr wrap="square"/>
                    <a:lstStyle/>
                    <a:p>
                      <a:pPr algn="r"/>
                      <a:r>
                        <a:rPr sz="1050" b="0">
                          <a:solidFill>
                            <a:srgbClr val="3C3550"/>
                          </a:solidFill>
                          <a:latin typeface="Calibri"/>
                        </a:rPr>
                        <a:t>1,000</a:t>
                      </a:r>
                    </a:p>
                  </a:txBody>
                  <a:tcPr marL="73152" marR="73152" marT="27432" marB="27432" anchor="ctr">
                    <a:noFill/>
                  </a:tcPr>
                </a:tc>
                <a:tc>
                  <a:txBody>
                    <a:bodyPr wrap="square"/>
                    <a:lstStyle/>
                    <a:p>
                      <a:pPr algn="r"/>
                      <a:r>
                        <a:rPr sz="1050" b="0">
                          <a:solidFill>
                            <a:srgbClr val="3C3550"/>
                          </a:solidFill>
                          <a:latin typeface="Calibri"/>
                        </a:rPr>
                        <a:t>2,500</a:t>
                      </a:r>
                    </a:p>
                  </a:txBody>
                  <a:tcPr marL="73152" marR="73152" marT="27432" marB="27432" anchor="ctr">
                    <a:noFill/>
                  </a:tcPr>
                </a:tc>
                <a:tc>
                  <a:txBody>
                    <a:bodyPr wrap="square"/>
                    <a:lstStyle/>
                    <a:p>
                      <a:pPr algn="r"/>
                      <a:r>
                        <a:rPr sz="1050" b="0">
                          <a:solidFill>
                            <a:srgbClr val="3C3550"/>
                          </a:solidFill>
                          <a:latin typeface="Calibri"/>
                        </a:rPr>
                        <a:t>~7,600</a:t>
                      </a:r>
                    </a:p>
                  </a:txBody>
                  <a:tcPr marL="73152" marR="73152" marT="27432" marB="27432" anchor="ctr">
                    <a:noFill/>
                  </a:tcPr>
                </a:tc>
              </a:tr>
              <a:tr h="301752">
                <a:tc>
                  <a:txBody>
                    <a:bodyPr wrap="square"/>
                    <a:lstStyle/>
                    <a:p>
                      <a:r>
                        <a:rPr sz="1050" b="1">
                          <a:solidFill>
                            <a:srgbClr val="2F1E4A"/>
                          </a:solidFill>
                          <a:latin typeface="Calibri"/>
                        </a:rPr>
                        <a:t>All</a:t>
                      </a:r>
                    </a:p>
                  </a:txBody>
                  <a:tcPr marL="73152" marR="73152" marT="27432" marB="27432" anchor="ctr">
                    <a:solidFill>
                      <a:srgbClr val="ECE9F2"/>
                    </a:solidFill>
                  </a:tcPr>
                </a:tc>
                <a:tc>
                  <a:txBody>
                    <a:bodyPr wrap="square"/>
                    <a:lstStyle/>
                    <a:p>
                      <a:pPr algn="r"/>
                      <a:r>
                        <a:rPr sz="1050" b="1">
                          <a:solidFill>
                            <a:srgbClr val="2F1E4A"/>
                          </a:solidFill>
                          <a:latin typeface="Calibri"/>
                        </a:rPr>
                        <a:t>80,500</a:t>
                      </a:r>
                    </a:p>
                  </a:txBody>
                  <a:tcPr marL="73152" marR="73152" marT="27432" marB="27432" anchor="ctr">
                    <a:solidFill>
                      <a:srgbClr val="ECE9F2"/>
                    </a:solidFill>
                  </a:tcPr>
                </a:tc>
                <a:tc>
                  <a:txBody>
                    <a:bodyPr wrap="square"/>
                    <a:lstStyle/>
                    <a:p>
                      <a:pPr algn="r"/>
                      <a:r>
                        <a:rPr sz="1050" b="1">
                          <a:solidFill>
                            <a:srgbClr val="2F1E4A"/>
                          </a:solidFill>
                          <a:latin typeface="Calibri"/>
                        </a:rPr>
                        <a:t>29,500</a:t>
                      </a:r>
                    </a:p>
                  </a:txBody>
                  <a:tcPr marL="73152" marR="73152" marT="27432" marB="27432" anchor="ctr">
                    <a:solidFill>
                      <a:srgbClr val="ECE9F2"/>
                    </a:solidFill>
                  </a:tcPr>
                </a:tc>
                <a:tc>
                  <a:txBody>
                    <a:bodyPr wrap="square"/>
                    <a:lstStyle/>
                    <a:p>
                      <a:pPr algn="r"/>
                      <a:r>
                        <a:rPr sz="1050" b="1">
                          <a:solidFill>
                            <a:srgbClr val="2F1E4A"/>
                          </a:solidFill>
                          <a:latin typeface="Calibri"/>
                        </a:rPr>
                        <a:t>110,000</a:t>
                      </a:r>
                    </a:p>
                  </a:txBody>
                  <a:tcPr marL="73152" marR="73152" marT="27432" marB="27432" anchor="ctr">
                    <a:solidFill>
                      <a:srgbClr val="ECE9F2"/>
                    </a:solidFill>
                  </a:tcPr>
                </a:tc>
                <a:tc>
                  <a:txBody>
                    <a:bodyPr wrap="square"/>
                    <a:lstStyle/>
                    <a:p>
                      <a:pPr algn="r"/>
                      <a:r>
                        <a:rPr sz="1050" b="1">
                          <a:solidFill>
                            <a:srgbClr val="2F1E4A"/>
                          </a:solidFill>
                          <a:latin typeface="Calibri"/>
                        </a:rPr>
                        <a:t>~254,600</a:t>
                      </a:r>
                    </a:p>
                  </a:txBody>
                  <a:tcPr marL="73152" marR="73152" marT="27432" marB="27432" anchor="ctr">
                    <a:solidFill>
                      <a:srgbClr val="ECE9F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FORWARD STRATEGY</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Paid and nurture run as one engine, not two teams.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Most B2B buyers are not ready on first touch. Judged only on first-touch leads, paid throws away most of the demand it pays to create. The fix is a closed loop.</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loop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captures intent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Search for ready-now. Lead forms and content on LinkedIn and Meta for earlier intent.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Everyone enters a HubSpot audience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Segmented by product, market, and how far along they are.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Nurture works the not-ready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Sequenced, relevant content until behaviour signals readiness.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 remarketing reinforces 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Stays present on Google, LinkedIn, Meta so the brand never goes quiet between emails.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Sales-ready convert, attributed to paid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Warm leads close higher, and the closed deal traces back to the paid source that started it.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The biggest lever is not more spend.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It is the nurture-and-remarketing layer that did not exist before, the cheapest of all because it works demand we already paid to create.</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CONNECTIVE TISSUE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HubSpot audiences are where paid and nurture meet.</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pieces exist in fragments (a preserved 1.28M French matched audience, the Engagement line, remarketing in the product map). The work is to assemble them into one system that turns paid from a lead source into a pipeline source.</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Build now (parallel to tracking)</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Activate once tracking is healthy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Behavioural segments in HubSpot. </a:t>
                      </a:r>
                      <a:pPr algn="l" indent="0" marL="0">
                        <a:buNone/>
                      </a:pPr>
                      <a:r>
                        <a:rPr lang="en-US" sz="1100" dirty="0">
                          <a:solidFill>
                            <a:srgbClr val="3C3550"/>
                          </a:solidFill>
                          <a:latin typeface="Calibri" pitchFamily="34" charset="0"/>
                          <a:ea typeface="Calibri" pitchFamily="34" charset="-122"/>
                          <a:cs typeface="Calibri" pitchFamily="34" charset="-120"/>
                        </a:rPr>
                        <a:t>From form fills, content, pricing/demo page views, email engagement. Keyed to product (Flow, Workforce, Easilys) and market.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Sync segments out to the platforms. </a:t>
                      </a:r>
                      <a:pPr algn="l" indent="0" marL="0">
                        <a:buNone/>
                      </a:pPr>
                      <a:r>
                        <a:rPr lang="en-US" sz="1100" dirty="0">
                          <a:solidFill>
                            <a:srgbClr val="3C3550"/>
                          </a:solidFill>
                          <a:latin typeface="Calibri" pitchFamily="34" charset="0"/>
                          <a:ea typeface="Calibri" pitchFamily="34" charset="-122"/>
                          <a:cs typeface="Calibri" pitchFamily="34" charset="-120"/>
                        </a:rPr>
                        <a:t>Google Customer Match, LinkedIn matched audiences, Meta custom audiences. Paid stays in front of who nurture is working.</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Nurture sequences per segment. </a:t>
                      </a:r>
                      <a:pPr algn="l" indent="0" marL="0">
                        <a:buNone/>
                      </a:pPr>
                      <a:r>
                        <a:rPr lang="en-US" sz="1100" dirty="0">
                          <a:solidFill>
                            <a:srgbClr val="3C3550"/>
                          </a:solidFill>
                          <a:latin typeface="Calibri" pitchFamily="34" charset="0"/>
                          <a:ea typeface="Calibri" pitchFamily="34" charset="-122"/>
                          <a:cs typeface="Calibri" pitchFamily="34" charset="-120"/>
                        </a:rPr>
                        <a:t>Move the not-ready-yet toward sales-ready with relevant, sequenced content.</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Lookalikes from best-converting segments. </a:t>
                      </a:r>
                      <a:pPr algn="l" indent="0" marL="0">
                        <a:buNone/>
                      </a:pPr>
                      <a:r>
                        <a:rPr lang="en-US" sz="1100" dirty="0">
                          <a:solidFill>
                            <a:srgbClr val="3C3550"/>
                          </a:solidFill>
                          <a:latin typeface="Calibri" pitchFamily="34" charset="0"/>
                          <a:ea typeface="Calibri" pitchFamily="34" charset="-122"/>
                          <a:cs typeface="Calibri" pitchFamily="34" charset="-120"/>
                        </a:rPr>
                        <a:t>How the broad-but-targeted model that won on LinkedIn scales without hand-picking lists. Then feed closed-won back so bidding learns from real revenue.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365760"/>
          </a:xfrm>
          <a:prstGeom prst="rect">
            <a:avLst/>
          </a:prstGeom>
          <a:noFill/>
          <a:ln/>
        </p:spPr>
        <p:txBody>
          <a:bodyPr wrap="square" lIns="0" tIns="0" rIns="0" bIns="0" rtlCol="0" anchor="t"/>
          <a:lstStyle/>
          <a:p>
            <a:pPr indent="0" marL="0">
              <a:lnSpc>
                <a:spcPct val="102000"/>
              </a:lnSpc>
              <a:buNone/>
            </a:pPr>
            <a:r>
              <a:rPr lang="en-US" sz="1100" i="1" dirty="0">
                <a:solidFill>
                  <a:srgbClr val="6A6478"/>
                </a:solidFill>
                <a:latin typeface="Calibri" pitchFamily="34" charset="0"/>
                <a:ea typeface="Calibri" pitchFamily="34" charset="-122"/>
                <a:cs typeface="Calibri" pitchFamily="34" charset="-120"/>
              </a:rPr>
              <a:t>Audiences are only as good as the data feeding them, so the sync waits on the tracking fix. The segment and sequence design does not, and starts now.</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ROUTING GAP, NOW LARGELY CLOSED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Non-demo leads are now created, qualified and routed. Two small gaps remain.</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 central routing workflow is live: it creates, qualifies and routes the non-demo leads (whitepaper, guide, event, product-page) to an owner, splits current customers to Customer Success, dedups against open leads, and blocks the clear non-fits. For paid that closes the worst dead-end. Two gaps remain, and both are small.</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piece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Paid-source label on entry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Ours to set: a clean paid-source label on entry, so paid leads are visible and reportable in the routed flow.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Nurture the non-demo leads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Ours, no dependency: sequenced nurture by segment that works the leads between touches. Builds now.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Score and graduate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RevOps Phase 2: automatic scoring grades and graduates on fit and intent, swaps in cleanly when it lands.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Route, and notify on non-demo</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Routing to an owner is live. Residual: only demo requests alert an SDR, so add a queue view or daily digest. RevOps + SDR side.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Monitor and escalate softly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A light check that paid leads are worked, with soft escalation. SDRs are at 63% of target, so priority not a punitive timer.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No paid lead should dead-end.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Default routes to the SDR queue; for named or higher-value accounts it can route to a LinkedIn-connect task instead, tracked the same way. The nurture works now; only the remarketing sync waits on the conversion-tracking fix.</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TWO JOBS, ONE BUDGET</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Evergreen always-on, plus paid support for growth.</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Paid has two jobs: always-on campaigns that capture demand year-round, and supporting the growth team's events, webinars, content and video. Search is intent capture and stays evergreen. Social is where the two compete, so growth gets a named, ring-fenced share.</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1828800"/>
                <a:gridCol w="1463040"/>
                <a:gridCol w="1828800"/>
                <a:gridCol w="5605272"/>
              </a:tblGrid>
              <a:tr h="60350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Platform</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Evergreen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Growth support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7D5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dirty="0">
                          <a:solidFill>
                            <a:srgbClr val="6A647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Intent capture. Never sacrificed to promote an activity. Search angles for growth fold into evergreen.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Microsoft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7D5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dirty="0">
                          <a:solidFill>
                            <a:srgbClr val="6A647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Same as Google, smaller volume, same logic.</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1E4A"/>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Primary B2B demand-gen and ABM surface. Always-on ABM runs in evergreen; the ring-fenced share is the growth team's for events and content, used only for an ABM burst that amplifies one.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60350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Meta</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2F1E4A"/>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Reach and video for event awareness + retargeting. Smaller growth slice than LinkedIn.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457200"/>
          </a:xfrm>
          <a:prstGeom prst="rect">
            <a:avLst/>
          </a:prstGeom>
          <a:noFill/>
          <a:ln/>
        </p:spPr>
        <p:txBody>
          <a:bodyPr wrap="square" lIns="0" tIns="0" rIns="0" bIns="0" rtlCol="0" anchor="t"/>
          <a:lstStyle/>
          <a:p>
            <a:pPr indent="0" marL="0">
              <a:lnSpc>
                <a:spcPct val="102000"/>
              </a:lnSpc>
              <a:buNone/>
            </a:pPr>
            <a:r>
              <a:rPr lang="en-US" sz="1050" b="1" dirty="0">
                <a:solidFill>
                  <a:srgbClr val="2F1E4A"/>
                </a:solidFill>
                <a:latin typeface="Calibri" pitchFamily="34" charset="0"/>
                <a:ea typeface="Calibri" pitchFamily="34" charset="-122"/>
                <a:cs typeface="Calibri" pitchFamily="34" charset="-120"/>
              </a:rPr>
              <a:t xml:space="preserve">The growth share is a ceiling, not a floor.  </a:t>
            </a:r>
            <a:pPr indent="0" marL="0">
              <a:lnSpc>
                <a:spcPct val="102000"/>
              </a:lnSpc>
              <a:buNone/>
            </a:pPr>
            <a:r>
              <a:rPr lang="en-US" sz="1050" dirty="0">
                <a:solidFill>
                  <a:srgbClr val="3C3550"/>
                </a:solidFill>
                <a:latin typeface="Calibri" pitchFamily="34" charset="0"/>
                <a:ea typeface="Calibri" pitchFamily="34" charset="-122"/>
                <a:cs typeface="Calibri" pitchFamily="34" charset="-120"/>
              </a:rPr>
              <a:t>No active campaign that month, it reverts to evergreen so nothing sits idle. Heavy event month, it borrows above the ceiling with sign-off. Re-set each quarter. Today most event promotion is organic, which caps reach on activity we already paid to produce.</a:t>
            </a:r>
            <a:endParaRPr lang="en-US" sz="10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ABM REBUILD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Account-based done the way it actually works.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The audit killed the old ABM for good reason: narrow lists below threshold, InMail spam, €441 for 0 leads at €184/click. The account-based intent was never the problem, the mechanics were. We keep the intent and replace the mechanics, in three tiers.</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10908792" cy="914400"/>
        </p:xfrm>
        <a:graphic>
          <a:graphicData uri="http://schemas.openxmlformats.org/drawingml/2006/table">
            <a:tbl>
              <a:tblPr/>
              <a:tblGrid>
                <a:gridCol w="1005840"/>
                <a:gridCol w="3383280"/>
                <a:gridCol w="4416552"/>
                <a:gridCol w="1920240"/>
              </a:tblGrid>
              <a:tr h="8350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Paid approach</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Measured 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Named strategic accounts (10-30 logos sales most wants)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High-touch company-targeted LinkedIn + retargeting. Higher CPC accepted because deal size justifies it. One-to-one: marketing warms, sales closes.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Account engagement + meetings, not CPL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Best-fit segments, the workhorse (hotel groups, QSR/FSR, caterers), audiences 50K+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The proven broad-but-targeted model: native lead forms + sponsored content. One-to-few with sequenced nurture.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CPL, MQL, SQL by segment, then pipeline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8350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Tier 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Broad ICP + lookalikes from Tier 1/2 converters and closed-won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Widest correctly-targeted audience. Lowest cost, feeds the funnel and the retargeting pool, graduates contacts up into Tier 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C23058"/>
                          </a:solidFill>
                          <a:latin typeface="Calibri" pitchFamily="34" charset="0"/>
                          <a:ea typeface="Calibri" pitchFamily="34" charset="-122"/>
                          <a:cs typeface="Calibri" pitchFamily="34" charset="-120"/>
                        </a:rPr>
                        <a:t>Volume, cost efficiency, pool contribution</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050" b="1" dirty="0">
                <a:solidFill>
                  <a:srgbClr val="2F1E4A"/>
                </a:solidFill>
                <a:latin typeface="Calibri" pitchFamily="34" charset="0"/>
                <a:ea typeface="Calibri" pitchFamily="34" charset="-122"/>
                <a:cs typeface="Calibri" pitchFamily="34" charset="-120"/>
              </a:rPr>
              <a:t xml:space="preserve">ABM sits in evergreen, not the growth slice, which frees that share for the growth team.  </a:t>
            </a:r>
            <a:pPr indent="0" marL="0">
              <a:lnSpc>
                <a:spcPct val="100000"/>
              </a:lnSpc>
              <a:buNone/>
            </a:pPr>
            <a:r>
              <a:rPr lang="en-US" sz="1050" dirty="0">
                <a:solidFill>
                  <a:srgbClr val="3C3550"/>
                </a:solidFill>
                <a:latin typeface="Calibri" pitchFamily="34" charset="0"/>
                <a:ea typeface="Calibri" pitchFamily="34" charset="-122"/>
                <a:cs typeface="Calibri" pitchFamily="34" charset="-120"/>
              </a:rPr>
              <a:t>Tier 2 and 3 start now; Tier 1 scoring and pipeline attribution follow the tracking fix. The preserved 1.28M French audience becomes the FR Tier 2/3 base. To leadership: yes to ABM, built the way that works.</a:t>
            </a:r>
            <a:endParaRPr lang="en-US" sz="105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THIRD LOOP   ·   EXPANSION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Grow the customers we already own.</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Acquisition wins the logo; expansion grows it. The cheapest pipeline we have is the customers we already serve, and it is the motion the acquisition loop points to whenever it holds current customers out.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731520"/>
                <a:gridCol w="3657600"/>
                <a:gridCol w="6336792"/>
              </a:tblGrid>
              <a:tr h="5486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motion</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Cross-sell the next module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Flow to Compliance, Workforce to Compliance, Easilys to Flow. Each account, the adjacent gap, in its own market.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Up-sell what they already have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More sites across the estate, more seats, a higher tier, the renewal uplift.</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Gate on health (the one hard rule)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Only green-health accounts get an expansion ask. An at-risk account is a save, never a sell.</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Marketing warms, account owners close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Customer nurture and customer-match ads surface the moment; Customer Success and account management own the sale.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548640">
                <a:tc>
                  <a:txBody>
                    <a:bodyPr/>
                    <a:lstStyle/>
                    <a:p>
                      <a:pPr algn="ctr" indent="0" marL="0">
                        <a:buNone/>
                      </a:pPr>
                      <a:r>
                        <a:rPr lang="en-US" sz="1100" b="1" dirty="0">
                          <a:solidFill>
                            <a:srgbClr val="C2305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Judge on expansion, not clicks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Net revenue retention and expansion revenue, proven against a held-out set of matched accounts.</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943600"/>
            <a:ext cx="10908792" cy="411480"/>
          </a:xfrm>
          <a:prstGeom prst="rect">
            <a:avLst/>
          </a:prstGeom>
          <a:noFill/>
          <a:ln/>
        </p:spPr>
        <p:txBody>
          <a:bodyPr wrap="square" lIns="0" tIns="0" rIns="0" bIns="0" rtlCol="0" anchor="t"/>
          <a:lstStyle/>
          <a:p>
            <a:pPr indent="0" marL="0">
              <a:lnSpc>
                <a:spcPct val="100000"/>
              </a:lnSpc>
              <a:buNone/>
            </a:pPr>
            <a:r>
              <a:rPr lang="en-US" sz="1100" b="1" dirty="0">
                <a:solidFill>
                  <a:srgbClr val="2F1E4A"/>
                </a:solidFill>
                <a:latin typeface="Calibri" pitchFamily="34" charset="0"/>
                <a:ea typeface="Calibri" pitchFamily="34" charset="-122"/>
                <a:cs typeface="Calibri" pitchFamily="34" charset="-120"/>
              </a:rPr>
              <a:t xml:space="preserve">The cheapest pipeline we have.  </a:t>
            </a:r>
            <a:pPr indent="0" marL="0">
              <a:lnSpc>
                <a:spcPct val="100000"/>
              </a:lnSpc>
              <a:buNone/>
            </a:pPr>
            <a:r>
              <a:rPr lang="en-US" sz="1100" dirty="0">
                <a:solidFill>
                  <a:srgbClr val="3C3550"/>
                </a:solidFill>
                <a:latin typeface="Calibri" pitchFamily="34" charset="0"/>
                <a:ea typeface="Calibri" pitchFamily="34" charset="-122"/>
                <a:cs typeface="Calibri" pitchFamily="34" charset="-120"/>
              </a:rPr>
              <a:t>It runs on the customer database we already own, and switches on in Q3 once product-usage and account-health data are wired in.</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WE JUDGE PAID GOING FORWARD</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Incremental lift, not platform-reported conversions.</a:t>
            </a:r>
            <a:endParaRPr lang="en-US" sz="2600" dirty="0"/>
          </a:p>
        </p:txBody>
      </p:sp>
      <p:sp>
        <p:nvSpPr>
          <p:cNvPr id="4" name="Text 2"/>
          <p:cNvSpPr/>
          <p:nvPr/>
        </p:nvSpPr>
        <p:spPr>
          <a:xfrm>
            <a:off x="640080" y="1783080"/>
            <a:ext cx="10908792" cy="384048"/>
          </a:xfrm>
          <a:prstGeom prst="rect">
            <a:avLst/>
          </a:prstGeom>
          <a:noFill/>
          <a:ln/>
        </p:spPr>
        <p:txBody>
          <a:bodyPr wrap="square" lIns="0" tIns="0" rIns="0" bIns="0" rtlCol="0" anchor="t"/>
          <a:lstStyle/>
          <a:p>
            <a:pPr indent="0" marL="0">
              <a:lnSpc>
                <a:spcPct val="105000"/>
              </a:lnSpc>
              <a:buNone/>
            </a:pPr>
            <a:r>
              <a:rPr lang="en-US" sz="1250" dirty="0">
                <a:solidFill>
                  <a:srgbClr val="6A6478"/>
                </a:solidFill>
                <a:latin typeface="Calibri" pitchFamily="34" charset="0"/>
                <a:ea typeface="Calibri" pitchFamily="34" charset="-122"/>
                <a:cs typeface="Calibri" pitchFamily="34" charset="-120"/>
              </a:rPr>
              <a:t>Platforms over-count: a paid click that would have happened anyway, for free, is not new business. So we reactivate brand defence, but we treat its value as a hypothesis to test rather than an article of faith. The standard, on every channel: judge paid on incremental lift, proven by holdout.</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5362956"/>
                <a:gridCol w="5362956"/>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strongest case: brand defence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we prove it: a geo holdout</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Where the case is strongest. </a:t>
                      </a:r>
                      <a:pPr algn="l" indent="0" marL="0">
                        <a:buNone/>
                      </a:pPr>
                      <a:r>
                        <a:rPr lang="en-US" sz="1100" dirty="0">
                          <a:solidFill>
                            <a:srgbClr val="3C3550"/>
                          </a:solidFill>
                          <a:latin typeface="Calibri" pitchFamily="34" charset="0"/>
                          <a:ea typeface="Calibri" pitchFamily="34" charset="-122"/>
                          <a:cs typeface="Calibri" pitchFamily="34" charset="-120"/>
                        </a:rPr>
                        <a:t>Where competitors bid on our terms, confirmed on French Bing. There a branded click we would otherwise lose to a rival is genuinely incremental, so defending it is worth real money. Where no rival bids, the click was likely ours for free anyway.</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The test. </a:t>
                      </a:r>
                      <a:pPr algn="l" indent="0" marL="0">
                        <a:buNone/>
                      </a:pPr>
                      <a:r>
                        <a:rPr lang="en-US" sz="1100" dirty="0">
                          <a:solidFill>
                            <a:srgbClr val="3C3550"/>
                          </a:solidFill>
                          <a:latin typeface="Calibri" pitchFamily="34" charset="0"/>
                          <a:ea typeface="Calibri" pitchFamily="34" charset="-122"/>
                          <a:cs typeface="Calibri" pitchFamily="34" charset="-120"/>
                        </a:rPr>
                        <a:t>Brand defence on where rivals bid our brand, off in a comparable market where they do not. Compare branded conversions over four to six weeks. If conversions hold steady with paid off, the spend was not incremental and the budget moves to where lift is real.</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1371600">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The wider principle. </a:t>
                      </a:r>
                      <a:pPr algn="l" indent="0" marL="0">
                        <a:buNone/>
                      </a:pPr>
                      <a:r>
                        <a:rPr lang="en-US" sz="1100" dirty="0">
                          <a:solidFill>
                            <a:srgbClr val="3C3550"/>
                          </a:solidFill>
                          <a:latin typeface="Calibri" pitchFamily="34" charset="0"/>
                          <a:ea typeface="Calibri" pitchFamily="34" charset="-122"/>
                          <a:cs typeface="Calibri" pitchFamily="34" charset="-120"/>
                        </a:rPr>
                        <a:t>The principle generalises. Cheap last-click CPA can hide spend that buys conversions which would have arrived anyway. We plot year-on-year so seasonality does not get read as lift, and we reallocate to where the lift is real rather than spending because the budget exists.</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 xml:space="preserve">Where it comes from. </a:t>
                      </a:r>
                      <a:pPr algn="l" indent="0" marL="0">
                        <a:buNone/>
                      </a:pPr>
                      <a:r>
                        <a:rPr lang="en-US" sz="1100" dirty="0">
                          <a:solidFill>
                            <a:srgbClr val="3C3550"/>
                          </a:solidFill>
                          <a:latin typeface="Calibri" pitchFamily="34" charset="0"/>
                          <a:ea typeface="Calibri" pitchFamily="34" charset="-122"/>
                          <a:cs typeface="Calibri" pitchFamily="34" charset="-120"/>
                        </a:rPr>
                        <a:t>The discipline comes from large-scale holdout testing in the industry, most famously the Uber case, where a single set of experiments reallocated roughly 35 million dollars once it showed how much spend was buying conversions that would have come for free.</a:t>
                      </a:r>
                      <a:endParaRPr lang="en-US" sz="1100" dirty="0">
                        <a:latin typeface="Calibri" charset="0"/>
                        <a:ea typeface="Calibri" charset="0"/>
                        <a:cs typeface="Calibri" charset="0"/>
                      </a:endParaRPr>
                    </a:p>
                  </a:txBody>
                  <a:tcPr marL="50800" marR="50800" marT="38100" marB="38100" anchor="t">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6" name="Text 3"/>
          <p:cNvSpPr/>
          <p:nvPr/>
        </p:nvSpPr>
        <p:spPr>
          <a:xfrm>
            <a:off x="640080" y="5897880"/>
            <a:ext cx="10908792" cy="365760"/>
          </a:xfrm>
          <a:prstGeom prst="rect">
            <a:avLst/>
          </a:prstGeom>
          <a:noFill/>
          <a:ln/>
        </p:spPr>
        <p:txBody>
          <a:bodyPr wrap="square" lIns="0" tIns="0" rIns="0" bIns="0" rtlCol="0" anchor="t"/>
          <a:lstStyle/>
          <a:p>
            <a:pPr indent="0" marL="0">
              <a:lnSpc>
                <a:spcPct val="102000"/>
              </a:lnSpc>
              <a:buNone/>
            </a:pPr>
            <a:r>
              <a:rPr lang="en-US" sz="1100" i="1" dirty="0">
                <a:solidFill>
                  <a:srgbClr val="6A6478"/>
                </a:solidFill>
                <a:latin typeface="Calibri" pitchFamily="34" charset="0"/>
                <a:ea typeface="Calibri" pitchFamily="34" charset="-122"/>
                <a:cs typeface="Calibri" pitchFamily="34" charset="-120"/>
              </a:rPr>
              <a:t>This sharpens the brand-defence case rather than weakening it: we turn it back on, and we hold it to the same incrementality bar as everything else. We would rather move budget to where the lift is real than spend because the budget exists.</a:t>
            </a:r>
            <a:endParaRPr lang="en-US" sz="11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THE FINANCIAL PICTURE</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Fund the rebuild from cut waste. Net position stays positive.</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743200"/>
                <a:gridCol w="1645920"/>
                <a:gridCol w="6336792"/>
              </a:tblGrid>
              <a:tr h="4206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Line</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Per year</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50800" marR="50800" marT="25400" marB="254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solidFill>
                      <a:srgbClr val="2F1E4A"/>
                    </a:solidFill>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Commit-publicly recovery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€35-55K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Realistic recovery (€67,410) with conservatism for execution risk + CPC inflation. The number to lead with.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Conservative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€22-30K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HIGH-confidence items only, deeper haircut. Use only if challenged for the floor.</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Stretch</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6A6478"/>
                          </a:solidFill>
                          <a:latin typeface="Calibri" pitchFamily="34" charset="0"/>
                          <a:ea typeface="Calibri" pitchFamily="34" charset="-122"/>
                          <a:cs typeface="Calibri" pitchFamily="34" charset="-120"/>
                        </a:rPr>
                        <a:t>€70-100K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If tracking lands and the lead-form model scales to UK + ES. Q4, multiple dependencies. Upside only.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Already booked</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b="1" dirty="0">
                          <a:solidFill>
                            <a:srgbClr val="2F7D52"/>
                          </a:solidFill>
                          <a:latin typeface="Calibri" pitchFamily="34" charset="0"/>
                          <a:ea typeface="Calibri" pitchFamily="34" charset="-122"/>
                          <a:cs typeface="Calibri" pitchFamily="34" charset="-120"/>
                        </a:rPr>
                        <a:t>€8,993</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Forward run-rate prevented by stopping the failed LinkedIn account-based campaigns (killed 25 May).</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r h="420624">
                <a:tc>
                  <a:txBody>
                    <a:bodyPr/>
                    <a:lstStyle/>
                    <a:p>
                      <a:pPr algn="l" indent="0" marL="0">
                        <a:buNone/>
                      </a:pPr>
                      <a:r>
                        <a:rPr lang="en-US" sz="1100" b="1" dirty="0">
                          <a:solidFill>
                            <a:srgbClr val="2F1E4A"/>
                          </a:solidFill>
                          <a:latin typeface="Calibri" pitchFamily="34" charset="0"/>
                          <a:ea typeface="Calibri" pitchFamily="34" charset="-122"/>
                          <a:cs typeface="Calibri" pitchFamily="34" charset="-120"/>
                        </a:rPr>
                        <a:t>Reallocation / net-new</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r" indent="0" marL="0">
                        <a:buNone/>
                      </a:pPr>
                      <a:r>
                        <a:rPr lang="en-US" sz="1100" dirty="0">
                          <a:solidFill>
                            <a:srgbClr val="3C3550"/>
                          </a:solidFill>
                          <a:latin typeface="Calibri" pitchFamily="34" charset="0"/>
                          <a:ea typeface="Calibri" pitchFamily="34" charset="-122"/>
                          <a:cs typeface="Calibri" pitchFamily="34" charset="-120"/>
                        </a:rPr>
                        <a:t>€15-25K</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c>
                  <a:txBody>
                    <a:bodyPr/>
                    <a:lstStyle/>
                    <a:p>
                      <a:pPr algn="l" indent="0" marL="0">
                        <a:buNone/>
                      </a:pPr>
                      <a:r>
                        <a:rPr lang="en-US" sz="1100" dirty="0">
                          <a:solidFill>
                            <a:srgbClr val="3C3550"/>
                          </a:solidFill>
                          <a:latin typeface="Calibri" pitchFamily="34" charset="0"/>
                          <a:ea typeface="Calibri" pitchFamily="34" charset="-122"/>
                          <a:cs typeface="Calibri" pitchFamily="34" charset="-120"/>
                        </a:rPr>
                        <a:t>UK brand defence + lead-form playbook + FR public-sector LP. Smaller than recovery, so net stays positive.</a:t>
                      </a:r>
                      <a:endParaRPr lang="en-US" sz="1100" dirty="0">
                        <a:latin typeface="Calibri" charset="0"/>
                        <a:ea typeface="Calibri" charset="0"/>
                        <a:cs typeface="Calibri" charset="0"/>
                      </a:endParaRPr>
                    </a:p>
                  </a:txBody>
                  <a:tcPr marL="50800" marR="50800" marT="38100" marB="38100" anchor="ctr">
                    <a:lnL w="6350" cap="flat" cmpd="sng" algn="ctr">
                      <a:solidFill>
                        <a:srgbClr val="D8D5E4"/>
                      </a:solidFill>
                      <a:prstDash val="solid"/>
                      <a:round/>
                      <a:headEnd type="none" w="med" len="med"/>
                      <a:tailEnd type="none" w="med" len="med"/>
                    </a:lnL>
                    <a:lnR w="6350" cap="flat" cmpd="sng" algn="ctr">
                      <a:solidFill>
                        <a:srgbClr val="D8D5E4"/>
                      </a:solidFill>
                      <a:prstDash val="solid"/>
                      <a:round/>
                      <a:headEnd type="none" w="med" len="med"/>
                      <a:tailEnd type="none" w="med" len="med"/>
                    </a:lnR>
                    <a:lnT w="6350" cap="flat" cmpd="sng" algn="ctr">
                      <a:solidFill>
                        <a:srgbClr val="D8D5E4"/>
                      </a:solidFill>
                      <a:prstDash val="solid"/>
                      <a:round/>
                      <a:headEnd type="none" w="med" len="med"/>
                      <a:tailEnd type="none" w="med" len="med"/>
                    </a:lnT>
                    <a:lnB w="6350" cap="flat" cmpd="sng" algn="ctr">
                      <a:solidFill>
                        <a:srgbClr val="D8D5E4"/>
                      </a:solidFill>
                      <a:prstDash val="solid"/>
                      <a:round/>
                      <a:headEnd type="none" w="med" len="med"/>
                      <a:tailEnd type="none" w="med" len="med"/>
                    </a:lnB>
                  </a:tcPr>
                </a:tc>
              </a:tr>
            </a:tbl>
          </a:graphicData>
        </a:graphic>
      </p:graphicFrame>
      <p:sp>
        <p:nvSpPr>
          <p:cNvPr id="5" name="Text 2"/>
          <p:cNvSpPr/>
          <p:nvPr/>
        </p:nvSpPr>
        <p:spPr>
          <a:xfrm>
            <a:off x="640080" y="4946904"/>
            <a:ext cx="10908792" cy="457200"/>
          </a:xfrm>
          <a:prstGeom prst="rect">
            <a:avLst/>
          </a:prstGeom>
          <a:noFill/>
          <a:ln/>
        </p:spPr>
        <p:txBody>
          <a:bodyPr wrap="square" lIns="0" tIns="0" rIns="0" bIns="0" rtlCol="0" anchor="t"/>
          <a:lstStyle/>
          <a:p>
            <a:pPr indent="0" marL="0">
              <a:lnSpc>
                <a:spcPct val="105000"/>
              </a:lnSpc>
              <a:buNone/>
            </a:pPr>
            <a:r>
              <a:rPr lang="en-US" sz="1100" dirty="0">
                <a:solidFill>
                  <a:srgbClr val="3C3550"/>
                </a:solidFill>
                <a:latin typeface="Calibri" pitchFamily="34" charset="0"/>
                <a:ea typeface="Calibri" pitchFamily="34" charset="-122"/>
                <a:cs typeface="Calibri" pitchFamily="34" charset="-120"/>
              </a:rPr>
              <a:t>Read it as: we are not asking for more money. We cut the waste, fund fewer campaigns properly, and the recovery is larger than the reinvestment. Meta's go-forward spend redeploys what it already burned on the wrong objectives.</a:t>
            </a:r>
            <a:endParaRPr lang="en-US" sz="1100" dirty="0"/>
          </a:p>
        </p:txBody>
      </p:sp>
      <p:sp>
        <p:nvSpPr>
          <p:cNvPr id="6" name="Shape 3"/>
          <p:cNvSpPr/>
          <p:nvPr/>
        </p:nvSpPr>
        <p:spPr>
          <a:xfrm>
            <a:off x="640080" y="6364224"/>
            <a:ext cx="10908792" cy="0"/>
          </a:xfrm>
          <a:prstGeom prst="line">
            <a:avLst/>
          </a:prstGeom>
          <a:noFill/>
          <a:ln w="9525">
            <a:solidFill>
              <a:srgbClr val="D8D5E4"/>
            </a:solidFill>
            <a:prstDash val="solid"/>
          </a:ln>
        </p:spPr>
      </p:sp>
      <p:sp>
        <p:nvSpPr>
          <p:cNvPr id="7" name="Text 4"/>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8" name="Text 5"/>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2F1E4A"/>
        </a:solidFill>
      </p:bgPr>
    </p:bg>
    <p:spTree>
      <p:nvGrpSpPr>
        <p:cNvPr id="1" name=""/>
        <p:cNvGrpSpPr/>
        <p:nvPr/>
      </p:nvGrpSpPr>
      <p:grpSpPr>
        <a:xfrm>
          <a:off x="0" y="0"/>
          <a:ext cx="0" cy="0"/>
          <a:chOff x="0" y="0"/>
          <a:chExt cx="0" cy="0"/>
        </a:xfrm>
      </p:grpSpPr>
      <p:sp>
        <p:nvSpPr>
          <p:cNvPr id="2" name="Text 0"/>
          <p:cNvSpPr/>
          <p:nvPr/>
        </p:nvSpPr>
        <p:spPr>
          <a:xfrm>
            <a:off x="640080" y="1828800"/>
            <a:ext cx="9144000" cy="274320"/>
          </a:xfrm>
          <a:prstGeom prst="rect">
            <a:avLst/>
          </a:prstGeom>
          <a:noFill/>
          <a:ln/>
        </p:spPr>
        <p:txBody>
          <a:bodyPr wrap="square" lIns="0" tIns="0" rIns="0" bIns="0" rtlCol="0" anchor="ctr"/>
          <a:lstStyle/>
          <a:p>
            <a:pPr indent="0" marL="0">
              <a:buNone/>
            </a:pPr>
            <a:r>
              <a:rPr lang="en-US" sz="1100" b="1" spc="300" kern="0" dirty="0">
                <a:solidFill>
                  <a:srgbClr val="D6D3FE"/>
                </a:solidFill>
                <a:latin typeface="Calibri" pitchFamily="34" charset="0"/>
                <a:ea typeface="Calibri" pitchFamily="34" charset="-122"/>
                <a:cs typeface="Calibri" pitchFamily="34" charset="-120"/>
              </a:rPr>
              <a:t>THE SHORT VERSION</a:t>
            </a:r>
            <a:endParaRPr lang="en-US" sz="1100" dirty="0"/>
          </a:p>
        </p:txBody>
      </p:sp>
      <p:sp>
        <p:nvSpPr>
          <p:cNvPr id="3" name="Text 1"/>
          <p:cNvSpPr/>
          <p:nvPr/>
        </p:nvSpPr>
        <p:spPr>
          <a:xfrm>
            <a:off x="640080" y="2240280"/>
            <a:ext cx="10515600" cy="1371600"/>
          </a:xfrm>
          <a:prstGeom prst="rect">
            <a:avLst/>
          </a:prstGeom>
          <a:noFill/>
          <a:ln/>
        </p:spPr>
        <p:txBody>
          <a:bodyPr wrap="square" lIns="0" tIns="0" rIns="0" bIns="0" rtlCol="0" anchor="t"/>
          <a:lstStyle/>
          <a:p>
            <a:pPr indent="0" marL="0">
              <a:lnSpc>
                <a:spcPct val="105000"/>
              </a:lnSpc>
              <a:buNone/>
            </a:pPr>
            <a:r>
              <a:rPr lang="en-US" sz="2800" b="1" dirty="0">
                <a:solidFill>
                  <a:srgbClr val="FFFFFF"/>
                </a:solidFill>
                <a:latin typeface="Georgia" pitchFamily="34" charset="0"/>
                <a:ea typeface="Georgia" pitchFamily="34" charset="-122"/>
                <a:cs typeface="Georgia" pitchFamily="34" charset="-120"/>
              </a:rPr>
              <a:t>The spend was spread thin, bid for clicks not customers, and measured on a broken signal.</a:t>
            </a:r>
            <a:endParaRPr lang="en-US" sz="2800" dirty="0"/>
          </a:p>
        </p:txBody>
      </p:sp>
      <p:sp>
        <p:nvSpPr>
          <p:cNvPr id="4" name="Text 2"/>
          <p:cNvSpPr/>
          <p:nvPr/>
        </p:nvSpPr>
        <p:spPr>
          <a:xfrm>
            <a:off x="640080" y="3703320"/>
            <a:ext cx="10058400" cy="2011680"/>
          </a:xfrm>
          <a:prstGeom prst="rect">
            <a:avLst/>
          </a:prstGeom>
          <a:noFill/>
          <a:ln/>
        </p:spPr>
        <p:txBody>
          <a:bodyPr wrap="square" lIns="0" tIns="0" rIns="0" bIns="0" rtlCol="0" anchor="t"/>
          <a:lstStyle/>
          <a:p>
            <a:pPr indent="0" marL="0">
              <a:lnSpc>
                <a:spcPct val="132000"/>
              </a:lnSpc>
              <a:buNone/>
            </a:pPr>
            <a:r>
              <a:rPr lang="en-US" sz="1550" dirty="0">
                <a:solidFill>
                  <a:srgbClr val="D6D3FE"/>
                </a:solidFill>
                <a:latin typeface="Calibri" pitchFamily="34" charset="0"/>
                <a:ea typeface="Calibri" pitchFamily="34" charset="-122"/>
                <a:cs typeface="Calibri" pitchFamily="34" charset="-120"/>
              </a:rPr>
              <a:t xml:space="preserve">We concentrate it, fix the measurement, defend the brand, scale the one model that worked, and wire paid to nurture so we stop wasting the demand we already pay for. The point that matters most: </a:t>
            </a:r>
            <a:pPr indent="0" marL="0">
              <a:lnSpc>
                <a:spcPct val="132000"/>
              </a:lnSpc>
              <a:buNone/>
            </a:pPr>
            <a:r>
              <a:rPr lang="en-US" sz="1550" b="1" dirty="0">
                <a:solidFill>
                  <a:srgbClr val="FFFFFF"/>
                </a:solidFill>
                <a:latin typeface="Calibri" pitchFamily="34" charset="0"/>
                <a:ea typeface="Calibri" pitchFamily="34" charset="-122"/>
                <a:cs typeface="Calibri" pitchFamily="34" charset="-120"/>
              </a:rPr>
              <a:t xml:space="preserve">paid is not weak, it is undercounted. </a:t>
            </a:r>
            <a:pPr indent="0" marL="0">
              <a:lnSpc>
                <a:spcPct val="132000"/>
              </a:lnSpc>
              <a:buNone/>
            </a:pPr>
            <a:r>
              <a:rPr lang="en-US" sz="1550" dirty="0">
                <a:solidFill>
                  <a:srgbClr val="D6D3FE"/>
                </a:solidFill>
                <a:latin typeface="Calibri" pitchFamily="34" charset="0"/>
                <a:ea typeface="Calibri" pitchFamily="34" charset="-122"/>
                <a:cs typeface="Calibri" pitchFamily="34" charset="-120"/>
              </a:rPr>
              <a:t>Dynamics already shows ~€1.05M in pipeline from paid in 12 months, while half-broken and half-paused. Fix the loop and paid earns its place among the top sources of pipeline and ARR at Mapal, next to website, SEO, and the nurture it now feeds.</a:t>
            </a:r>
            <a:endParaRPr lang="en-US" sz="1550" dirty="0"/>
          </a:p>
        </p:txBody>
      </p:sp>
      <p:sp>
        <p:nvSpPr>
          <p:cNvPr id="5" name="Text 3"/>
          <p:cNvSpPr/>
          <p:nvPr/>
        </p:nvSpPr>
        <p:spPr>
          <a:xfrm>
            <a:off x="640080" y="6217920"/>
            <a:ext cx="9144000" cy="274320"/>
          </a:xfrm>
          <a:prstGeom prst="rect">
            <a:avLst/>
          </a:prstGeom>
          <a:noFill/>
          <a:ln/>
        </p:spPr>
        <p:txBody>
          <a:bodyPr wrap="square" lIns="0" tIns="0" rIns="0" bIns="0" rtlCol="0" anchor="ctr"/>
          <a:lstStyle/>
          <a:p>
            <a:pPr indent="0" marL="0">
              <a:buNone/>
            </a:pPr>
            <a:r>
              <a:rPr lang="en-US" sz="1100" spc="200" kern="0" dirty="0">
                <a:solidFill>
                  <a:srgbClr val="9D92C4"/>
                </a:solidFill>
                <a:latin typeface="Calibri" pitchFamily="34" charset="0"/>
                <a:ea typeface="Calibri" pitchFamily="34" charset="-122"/>
                <a:cs typeface="Calibri" pitchFamily="34" charset="-120"/>
              </a:rPr>
              <a:t>Adrian Fernandez   ·   May 2026</a:t>
            </a:r>
            <a:endParaRPr lang="en-US" sz="11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AI SEARCH CHANGES THE PLAN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Buyers get answers without clicking, and shortlist inside assistants.</a:t>
            </a:r>
            <a:endParaRPr lang="en-US" sz="26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10" name="Table 9"/>
          <p:cNvGraphicFramePr>
            <a:graphicFrameLocks noGrp="1"/>
          </p:cNvGraphicFramePr>
          <p:nvPr/>
        </p:nvGraphicFramePr>
        <p:xfrm>
          <a:off x="640080" y="1920240"/>
          <a:ext cx="10908792" cy="3657600"/>
        </p:xfrm>
        <a:graphic>
          <a:graphicData uri="http://schemas.openxmlformats.org/drawingml/2006/table">
            <a:tbl>
              <a:tblPr>
                <a:tableStyleId>{5C22544A-7EE6-4342-B048-85BDC9FD1C3A}</a:tableStyleId>
              </a:tblPr>
              <a:tblGrid>
                <a:gridCol w="5449824"/>
                <a:gridCol w="5458968"/>
              </a:tblGrid>
              <a:tr h="1828800">
                <a:tc>
                  <a:txBody>
                    <a:bodyPr wrap="square"/>
                    <a:lstStyle/>
                    <a:p>
                      <a:r>
                        <a:rPr sz="1400" b="1">
                          <a:solidFill>
                            <a:srgbClr val="2F1E4A"/>
                          </a:solidFill>
                          <a:latin typeface="Calibri"/>
                        </a:rPr>
                        <a:t>What is happening</a:t>
                      </a:r>
                    </a:p>
                    <a:p>
                      <a:pPr>
                        <a:spcBef>
                          <a:spcPts val="400"/>
                        </a:spcBef>
                      </a:pPr>
                      <a:r>
                        <a:rPr sz="1150" b="0">
                          <a:solidFill>
                            <a:srgbClr val="6A6478"/>
                          </a:solidFill>
                          <a:latin typeface="Calibri"/>
                        </a:rPr>
                        <a:t>AI answers resolve broad queries in place, so those clicks fall and the cost per click on the rest rises. Buyers shortlist inside assistants before they ever search.</a:t>
                      </a:r>
                    </a:p>
                  </a:txBody>
                  <a:tcPr marL="73152" marR="73152" marT="27432" marB="27432" anchor="t">
                    <a:solidFill>
                      <a:srgbClr val="F4F2F8"/>
                    </a:solidFill>
                  </a:tcPr>
                </a:tc>
                <a:tc>
                  <a:txBody>
                    <a:bodyPr wrap="square"/>
                    <a:lstStyle/>
                    <a:p>
                      <a:r>
                        <a:rPr sz="1400" b="1">
                          <a:solidFill>
                            <a:srgbClr val="2F1E4A"/>
                          </a:solidFill>
                          <a:latin typeface="Calibri"/>
                        </a:rPr>
                        <a:t>What we do in search</a:t>
                      </a:r>
                    </a:p>
                    <a:p>
                      <a:pPr>
                        <a:spcBef>
                          <a:spcPts val="400"/>
                        </a:spcBef>
                      </a:pPr>
                      <a:r>
                        <a:rPr sz="1150" b="0">
                          <a:solidFill>
                            <a:srgbClr val="6A6478"/>
                          </a:solidFill>
                          <a:latin typeface="Calibri"/>
                        </a:rPr>
                        <a:t>Tilt to high-intent, brand and comparison terms where a click is genuinely incremental, and defend comparison terms.</a:t>
                      </a:r>
                    </a:p>
                  </a:txBody>
                  <a:tcPr marL="73152" marR="73152" marT="27432" marB="27432" anchor="t">
                    <a:solidFill>
                      <a:srgbClr val="F4F2F8"/>
                    </a:solidFill>
                  </a:tcPr>
                </a:tc>
              </a:tr>
              <a:tr h="1828800">
                <a:tc>
                  <a:txBody>
                    <a:bodyPr wrap="square"/>
                    <a:lstStyle/>
                    <a:p>
                      <a:r>
                        <a:rPr sz="1400" b="1">
                          <a:solidFill>
                            <a:srgbClr val="2F1E4A"/>
                          </a:solidFill>
                          <a:latin typeface="Calibri"/>
                        </a:rPr>
                        <a:t>How we judge</a:t>
                      </a:r>
                    </a:p>
                    <a:p>
                      <a:pPr>
                        <a:spcBef>
                          <a:spcPts val="400"/>
                        </a:spcBef>
                      </a:pPr>
                      <a:r>
                        <a:rPr sz="1150" b="0">
                          <a:solidFill>
                            <a:srgbClr val="6A6478"/>
                          </a:solidFill>
                          <a:latin typeface="Calibri"/>
                        </a:rPr>
                        <a:t>Incremental lift via holdout, not platform-reported conversions.</a:t>
                      </a:r>
                    </a:p>
                  </a:txBody>
                  <a:tcPr marL="73152" marR="73152" marT="27432" marB="27432" anchor="t">
                    <a:solidFill>
                      <a:srgbClr val="F4F2F8"/>
                    </a:solidFill>
                  </a:tcPr>
                </a:tc>
                <a:tc>
                  <a:txBody>
                    <a:bodyPr wrap="square"/>
                    <a:lstStyle/>
                    <a:p>
                      <a:r>
                        <a:rPr sz="1400" b="1">
                          <a:solidFill>
                            <a:srgbClr val="2F1E4A"/>
                          </a:solidFill>
                          <a:latin typeface="Calibri"/>
                        </a:rPr>
                        <a:t>Who owns AI-answer visibility</a:t>
                      </a:r>
                    </a:p>
                    <a:p>
                      <a:pPr>
                        <a:spcBef>
                          <a:spcPts val="400"/>
                        </a:spcBef>
                      </a:pPr>
                      <a:r>
                        <a:rPr sz="1150" b="0">
                          <a:solidFill>
                            <a:srgbClr val="6A6478"/>
                          </a:solidFill>
                          <a:latin typeface="Calibri"/>
                        </a:rPr>
                        <a:t>SEO, content and PR own it; paid amplifies. Flagged for the wider team, not absorbed into paid.</a:t>
                      </a:r>
                    </a:p>
                  </a:txBody>
                  <a:tcPr marL="73152" marR="73152" marT="27432" marB="27432" anchor="t">
                    <a:solidFill>
                      <a:srgbClr val="F4F2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HOW PAID SUPPORTS THE GROWTH TEAM</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A menu of proven plays, each judged on pipeline.</a:t>
            </a:r>
            <a:endParaRPr lang="en-US" sz="26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10" name="Table 9"/>
          <p:cNvGraphicFramePr>
            <a:graphicFrameLocks noGrp="1"/>
          </p:cNvGraphicFramePr>
          <p:nvPr/>
        </p:nvGraphicFramePr>
        <p:xfrm>
          <a:off x="640080" y="1828800"/>
          <a:ext cx="10908792" cy="3419856"/>
        </p:xfrm>
        <a:graphic>
          <a:graphicData uri="http://schemas.openxmlformats.org/drawingml/2006/table">
            <a:tbl>
              <a:tblPr>
                <a:tableStyleId>{5C22544A-7EE6-4342-B048-85BDC9FD1C3A}</a:tableStyleId>
              </a:tblPr>
              <a:tblGrid>
                <a:gridCol w="2651760"/>
                <a:gridCol w="5879592"/>
                <a:gridCol w="2377440"/>
              </a:tblGrid>
              <a:tr h="310896">
                <a:tc>
                  <a:txBody>
                    <a:bodyPr wrap="square"/>
                    <a:lstStyle/>
                    <a:p>
                      <a:r>
                        <a:rPr sz="1000" b="1">
                          <a:solidFill>
                            <a:srgbClr val="FFFFFF"/>
                          </a:solidFill>
                          <a:latin typeface="Calibri"/>
                        </a:rPr>
                        <a:t>Request type</a:t>
                      </a:r>
                    </a:p>
                  </a:txBody>
                  <a:tcPr marL="73152" marR="73152" marT="27432" marB="27432" anchor="ctr">
                    <a:solidFill>
                      <a:srgbClr val="2F1E4A"/>
                    </a:solidFill>
                  </a:tcPr>
                </a:tc>
                <a:tc>
                  <a:txBody>
                    <a:bodyPr wrap="square"/>
                    <a:lstStyle/>
                    <a:p>
                      <a:r>
                        <a:rPr sz="1000" b="1">
                          <a:solidFill>
                            <a:srgbClr val="FFFFFF"/>
                          </a:solidFill>
                          <a:latin typeface="Calibri"/>
                        </a:rPr>
                        <a:t>Proven play</a:t>
                      </a:r>
                    </a:p>
                  </a:txBody>
                  <a:tcPr marL="73152" marR="73152" marT="27432" marB="27432" anchor="ctr">
                    <a:solidFill>
                      <a:srgbClr val="2F1E4A"/>
                    </a:solidFill>
                  </a:tcPr>
                </a:tc>
                <a:tc>
                  <a:txBody>
                    <a:bodyPr wrap="square"/>
                    <a:lstStyle/>
                    <a:p>
                      <a:r>
                        <a:rPr sz="1000" b="1">
                          <a:solidFill>
                            <a:srgbClr val="FFFFFF"/>
                          </a:solidFill>
                          <a:latin typeface="Calibri"/>
                        </a:rPr>
                        <a:t>Judged on</a:t>
                      </a:r>
                    </a:p>
                  </a:txBody>
                  <a:tcPr marL="73152" marR="73152" marT="27432" marB="27432" anchor="ctr">
                    <a:solidFill>
                      <a:srgbClr val="2F1E4A"/>
                    </a:solidFill>
                  </a:tcPr>
                </a:tc>
              </a:tr>
              <a:tr h="621792">
                <a:tc>
                  <a:txBody>
                    <a:bodyPr wrap="square"/>
                    <a:lstStyle/>
                    <a:p>
                      <a:r>
                        <a:rPr sz="900" b="1">
                          <a:solidFill>
                            <a:srgbClr val="2F1E4A"/>
                          </a:solidFill>
                          <a:latin typeface="Calibri"/>
                        </a:rPr>
                        <a:t>Webinar or event</a:t>
                      </a:r>
                    </a:p>
                  </a:txBody>
                  <a:tcPr marL="73152" marR="73152" marT="27432" marB="27432" anchor="t">
                    <a:noFill/>
                  </a:tcPr>
                </a:tc>
                <a:tc>
                  <a:txBody>
                    <a:bodyPr wrap="square"/>
                    <a:lstStyle/>
                    <a:p>
                      <a:r>
                        <a:rPr sz="900" b="0">
                          <a:solidFill>
                            <a:srgbClr val="3C3550"/>
                          </a:solidFill>
                          <a:latin typeface="Calibri"/>
                        </a:rPr>
                        <a:t>Single-image Sponsored Content with a native Lead Gen Form to a broad ICP, synced to HubSpot, with reminder and post-event sequences.</a:t>
                      </a:r>
                    </a:p>
                  </a:txBody>
                  <a:tcPr marL="73152" marR="73152" marT="27432" marB="27432" anchor="t">
                    <a:noFill/>
                  </a:tcPr>
                </a:tc>
                <a:tc>
                  <a:txBody>
                    <a:bodyPr wrap="square"/>
                    <a:lstStyle/>
                    <a:p>
                      <a:r>
                        <a:rPr sz="900" b="0">
                          <a:solidFill>
                            <a:srgbClr val="3C3550"/>
                          </a:solidFill>
                          <a:latin typeface="Calibri"/>
                        </a:rPr>
                        <a:t>Registrations to attendees to SQLs</a:t>
                      </a:r>
                    </a:p>
                  </a:txBody>
                  <a:tcPr marL="73152" marR="73152" marT="27432" marB="27432" anchor="t">
                    <a:noFill/>
                  </a:tcPr>
                </a:tc>
              </a:tr>
              <a:tr h="621792">
                <a:tc>
                  <a:txBody>
                    <a:bodyPr wrap="square"/>
                    <a:lstStyle/>
                    <a:p>
                      <a:r>
                        <a:rPr sz="900" b="1">
                          <a:solidFill>
                            <a:srgbClr val="2F1E4A"/>
                          </a:solidFill>
                          <a:latin typeface="Calibri"/>
                        </a:rPr>
                        <a:t>Whitepaper, guide or report (gated)</a:t>
                      </a:r>
                    </a:p>
                  </a:txBody>
                  <a:tcPr marL="73152" marR="73152" marT="27432" marB="27432" anchor="t">
                    <a:solidFill>
                      <a:srgbClr val="F4F2F8"/>
                    </a:solidFill>
                  </a:tcPr>
                </a:tc>
                <a:tc>
                  <a:txBody>
                    <a:bodyPr wrap="square"/>
                    <a:lstStyle/>
                    <a:p>
                      <a:r>
                        <a:rPr sz="900" b="0">
                          <a:solidFill>
                            <a:srgbClr val="3C3550"/>
                          </a:solidFill>
                          <a:latin typeface="Calibri"/>
                        </a:rPr>
                        <a:t>Lead Gen Form ad to a broad ICP plus retargeting, into nurture. Native form, not a landing page (about 26 vs 84 euros per lead in our data).</a:t>
                      </a:r>
                    </a:p>
                  </a:txBody>
                  <a:tcPr marL="73152" marR="73152" marT="27432" marB="27432" anchor="t">
                    <a:solidFill>
                      <a:srgbClr val="F4F2F8"/>
                    </a:solidFill>
                  </a:tcPr>
                </a:tc>
                <a:tc>
                  <a:txBody>
                    <a:bodyPr wrap="square"/>
                    <a:lstStyle/>
                    <a:p>
                      <a:r>
                        <a:rPr sz="900" b="0">
                          <a:solidFill>
                            <a:srgbClr val="3C3550"/>
                          </a:solidFill>
                          <a:latin typeface="Calibri"/>
                        </a:rPr>
                        <a:t>Cost per lead and MQL rate</a:t>
                      </a:r>
                    </a:p>
                  </a:txBody>
                  <a:tcPr marL="73152" marR="73152" marT="27432" marB="27432" anchor="t">
                    <a:solidFill>
                      <a:srgbClr val="F4F2F8"/>
                    </a:solidFill>
                  </a:tcPr>
                </a:tc>
              </a:tr>
              <a:tr h="621792">
                <a:tc>
                  <a:txBody>
                    <a:bodyPr wrap="square"/>
                    <a:lstStyle/>
                    <a:p>
                      <a:r>
                        <a:rPr sz="900" b="1">
                          <a:solidFill>
                            <a:srgbClr val="2F1E4A"/>
                          </a:solidFill>
                          <a:latin typeface="Calibri"/>
                        </a:rPr>
                        <a:t>Named-account push (ABM)</a:t>
                      </a:r>
                    </a:p>
                  </a:txBody>
                  <a:tcPr marL="73152" marR="73152" marT="27432" marB="27432" anchor="t">
                    <a:noFill/>
                  </a:tcPr>
                </a:tc>
                <a:tc>
                  <a:txBody>
                    <a:bodyPr wrap="square"/>
                    <a:lstStyle/>
                    <a:p>
                      <a:r>
                        <a:rPr sz="900" b="0">
                          <a:solidFill>
                            <a:srgbClr val="3C3550"/>
                          </a:solidFill>
                          <a:latin typeface="Calibri"/>
                        </a:rPr>
                        <a:t>Tier 1 only when sales provides 10 to 30 named logos: company-targeted Sponsored Content plus retargeting, high-touch.</a:t>
                      </a:r>
                    </a:p>
                  </a:txBody>
                  <a:tcPr marL="73152" marR="73152" marT="27432" marB="27432" anchor="t">
                    <a:noFill/>
                  </a:tcPr>
                </a:tc>
                <a:tc>
                  <a:txBody>
                    <a:bodyPr wrap="square"/>
                    <a:lstStyle/>
                    <a:p>
                      <a:r>
                        <a:rPr sz="900" b="0">
                          <a:solidFill>
                            <a:srgbClr val="3C3550"/>
                          </a:solidFill>
                          <a:latin typeface="Calibri"/>
                        </a:rPr>
                        <a:t>Meetings booked, not cost per lead</a:t>
                      </a:r>
                    </a:p>
                  </a:txBody>
                  <a:tcPr marL="73152" marR="73152" marT="27432" marB="27432" anchor="t">
                    <a:noFill/>
                  </a:tcPr>
                </a:tc>
              </a:tr>
              <a:tr h="621792">
                <a:tc>
                  <a:txBody>
                    <a:bodyPr wrap="square"/>
                    <a:lstStyle/>
                    <a:p>
                      <a:r>
                        <a:rPr sz="900" b="1">
                          <a:solidFill>
                            <a:srgbClr val="2F1E4A"/>
                          </a:solidFill>
                          <a:latin typeface="Calibri"/>
                        </a:rPr>
                        <a:t>Product or feature awareness</a:t>
                      </a:r>
                    </a:p>
                  </a:txBody>
                  <a:tcPr marL="73152" marR="73152" marT="27432" marB="27432" anchor="t">
                    <a:solidFill>
                      <a:srgbClr val="F4F2F8"/>
                    </a:solidFill>
                  </a:tcPr>
                </a:tc>
                <a:tc>
                  <a:txBody>
                    <a:bodyPr wrap="square"/>
                    <a:lstStyle/>
                    <a:p>
                      <a:r>
                        <a:rPr sz="900" b="0">
                          <a:solidFill>
                            <a:srgbClr val="3C3550"/>
                          </a:solidFill>
                          <a:latin typeface="Calibri"/>
                        </a:rPr>
                        <a:t>Video or single image to a broad ICP as a view-through layer that feeds retargeting, not a direct-response ask.</a:t>
                      </a:r>
                    </a:p>
                  </a:txBody>
                  <a:tcPr marL="73152" marR="73152" marT="27432" marB="27432" anchor="t">
                    <a:solidFill>
                      <a:srgbClr val="F4F2F8"/>
                    </a:solidFill>
                  </a:tcPr>
                </a:tc>
                <a:tc>
                  <a:txBody>
                    <a:bodyPr wrap="square"/>
                    <a:lstStyle/>
                    <a:p>
                      <a:r>
                        <a:rPr sz="900" b="0">
                          <a:solidFill>
                            <a:srgbClr val="3C3550"/>
                          </a:solidFill>
                          <a:latin typeface="Calibri"/>
                        </a:rPr>
                        <a:t>Assisted pipeline and influenced opps</a:t>
                      </a:r>
                    </a:p>
                  </a:txBody>
                  <a:tcPr marL="73152" marR="73152" marT="27432" marB="27432" anchor="t">
                    <a:solidFill>
                      <a:srgbClr val="F4F2F8"/>
                    </a:solidFill>
                  </a:tcPr>
                </a:tc>
              </a:tr>
              <a:tr h="621792">
                <a:tc>
                  <a:txBody>
                    <a:bodyPr wrap="square"/>
                    <a:lstStyle/>
                    <a:p>
                      <a:r>
                        <a:rPr sz="900" b="1">
                          <a:solidFill>
                            <a:srgbClr val="2F1E4A"/>
                          </a:solidFill>
                          <a:latin typeface="Calibri"/>
                        </a:rPr>
                        <a:t>Brand and competitor defence</a:t>
                      </a:r>
                    </a:p>
                  </a:txBody>
                  <a:tcPr marL="73152" marR="73152" marT="27432" marB="27432" anchor="t">
                    <a:noFill/>
                  </a:tcPr>
                </a:tc>
                <a:tc>
                  <a:txBody>
                    <a:bodyPr wrap="square"/>
                    <a:lstStyle/>
                    <a:p>
                      <a:r>
                        <a:rPr sz="900" b="0">
                          <a:solidFill>
                            <a:srgbClr val="3C3550"/>
                          </a:solidFill>
                          <a:latin typeface="Calibri"/>
                        </a:rPr>
                        <a:t>Always-on, owned by paid (not a growth-team request), named here so it is understood as protected.</a:t>
                      </a:r>
                    </a:p>
                  </a:txBody>
                  <a:tcPr marL="73152" marR="73152" marT="27432" marB="27432" anchor="t">
                    <a:noFill/>
                  </a:tcPr>
                </a:tc>
                <a:tc>
                  <a:txBody>
                    <a:bodyPr wrap="square"/>
                    <a:lstStyle/>
                    <a:p>
                      <a:r>
                        <a:rPr sz="900" b="0">
                          <a:solidFill>
                            <a:srgbClr val="3C3550"/>
                          </a:solidFill>
                          <a:latin typeface="Calibri"/>
                        </a:rPr>
                        <a:t>Incremental conversions, proven by holdout</a:t>
                      </a:r>
                    </a:p>
                  </a:txBody>
                  <a:tcPr marL="73152" marR="73152" marT="27432" marB="27432" anchor="t">
                    <a:noFill/>
                  </a:tcPr>
                </a:tc>
              </a:tr>
            </a:tbl>
          </a:graphicData>
        </a:graphic>
      </p:graphicFrame>
      <p:sp>
        <p:nvSpPr>
          <p:cNvPr id="11" name="TextBox 10"/>
          <p:cNvSpPr txBox="1"/>
          <p:nvPr/>
        </p:nvSpPr>
        <p:spPr>
          <a:xfrm>
            <a:off x="640080" y="5852160"/>
            <a:ext cx="10908792" cy="365760"/>
          </a:xfrm>
          <a:prstGeom prst="rect">
            <a:avLst/>
          </a:prstGeom>
          <a:noFill/>
        </p:spPr>
        <p:txBody>
          <a:bodyPr wrap="square">
            <a:spAutoFit/>
          </a:bodyPr>
          <a:lstStyle/>
          <a:p>
            <a:r>
              <a:rPr sz="1100" b="1">
                <a:solidFill>
                  <a:srgbClr val="C23058"/>
                </a:solidFill>
                <a:latin typeface="Calibri"/>
              </a:rPr>
              <a:t>Search stays evergreen. Every play needs a working conversion and a tracked form before launch.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75488"/>
            <a:ext cx="10908792" cy="274320"/>
          </a:xfrm>
          <a:prstGeom prst="rect">
            <a:avLst/>
          </a:prstGeom>
          <a:noFill/>
          <a:ln/>
        </p:spPr>
        <p:txBody>
          <a:bodyPr wrap="square" lIns="0" tIns="0" rIns="0" bIns="0" rtlCol="0" anchor="ctr"/>
          <a:lstStyle/>
          <a:p>
            <a:pPr indent="0" marL="0">
              <a:buNone/>
            </a:pPr>
            <a:r>
              <a:rPr lang="en-US" sz="1100" b="1" spc="300" kern="0" dirty="0">
                <a:solidFill>
                  <a:srgbClr val="C23058"/>
                </a:solidFill>
                <a:latin typeface="Calibri" pitchFamily="34" charset="0"/>
                <a:ea typeface="Calibri" pitchFamily="34" charset="-122"/>
                <a:cs typeface="Calibri" pitchFamily="34" charset="-120"/>
              </a:rPr>
              <a:t>MORE THAN ONE WAY IN</a:t>
            </a:r>
            <a:endParaRPr lang="en-US" sz="1100" dirty="0"/>
          </a:p>
        </p:txBody>
      </p:sp>
      <p:sp>
        <p:nvSpPr>
          <p:cNvPr id="3" name="Text 1"/>
          <p:cNvSpPr/>
          <p:nvPr/>
        </p:nvSpPr>
        <p:spPr>
          <a:xfrm>
            <a:off x="640080" y="841248"/>
            <a:ext cx="10908792" cy="822960"/>
          </a:xfrm>
          <a:prstGeom prst="rect">
            <a:avLst/>
          </a:prstGeom>
          <a:noFill/>
          <a:ln/>
        </p:spPr>
        <p:txBody>
          <a:bodyPr wrap="square" lIns="0" tIns="0" rIns="0" bIns="0" rtlCol="0" anchor="t"/>
          <a:lstStyle/>
          <a:p>
            <a:pPr indent="0" marL="0">
              <a:lnSpc>
                <a:spcPct val="100000"/>
              </a:lnSpc>
              <a:buNone/>
            </a:pPr>
            <a:r>
              <a:rPr lang="en-US" sz="2600" b="1" dirty="0">
                <a:solidFill>
                  <a:srgbClr val="2F1E4A"/>
                </a:solidFill>
                <a:latin typeface="Georgia" pitchFamily="34" charset="0"/>
                <a:ea typeface="Georgia" pitchFamily="34" charset="-122"/>
                <a:cs typeface="Georgia" pitchFamily="34" charset="-120"/>
              </a:rPr>
              <a:t>The demo stays primary. A step-down set of tracked paths captures the not-ready into nurture.</a:t>
            </a:r>
            <a:endParaRPr lang="en-US" sz="2600" dirty="0"/>
          </a:p>
        </p:txBody>
      </p:sp>
      <p:sp>
        <p:nvSpPr>
          <p:cNvPr id="7" name="Shape 4"/>
          <p:cNvSpPr/>
          <p:nvPr/>
        </p:nvSpPr>
        <p:spPr>
          <a:xfrm>
            <a:off x="640080" y="6364224"/>
            <a:ext cx="10908792" cy="0"/>
          </a:xfrm>
          <a:prstGeom prst="line">
            <a:avLst/>
          </a:prstGeom>
          <a:noFill/>
          <a:ln w="9525">
            <a:solidFill>
              <a:srgbClr val="D8D5E4"/>
            </a:solidFill>
            <a:prstDash val="solid"/>
          </a:ln>
        </p:spPr>
      </p:sp>
      <p:sp>
        <p:nvSpPr>
          <p:cNvPr id="8" name="Text 5"/>
          <p:cNvSpPr/>
          <p:nvPr/>
        </p:nvSpPr>
        <p:spPr>
          <a:xfrm>
            <a:off x="640080" y="6419088"/>
            <a:ext cx="3657600" cy="274320"/>
          </a:xfrm>
          <a:prstGeom prst="rect">
            <a:avLst/>
          </a:prstGeom>
          <a:noFill/>
          <a:ln/>
        </p:spPr>
        <p:txBody>
          <a:bodyPr wrap="square" lIns="0" tIns="0" rIns="0" bIns="0" rtlCol="0" anchor="ctr"/>
          <a:lstStyle/>
          <a:p>
            <a:pPr indent="0" marL="0">
              <a:buNone/>
            </a:pPr>
            <a:r>
              <a:rPr lang="en-US" sz="900" b="1" spc="200" kern="0" dirty="0">
                <a:solidFill>
                  <a:srgbClr val="C23058"/>
                </a:solidFill>
                <a:latin typeface="Calibri" pitchFamily="34" charset="0"/>
                <a:ea typeface="Calibri" pitchFamily="34" charset="-122"/>
                <a:cs typeface="Calibri" pitchFamily="34" charset="-120"/>
              </a:rPr>
              <a:t>MAPAL OS</a:t>
            </a:r>
            <a:endParaRPr lang="en-US" sz="900" dirty="0"/>
          </a:p>
        </p:txBody>
      </p:sp>
      <p:sp>
        <p:nvSpPr>
          <p:cNvPr id="9" name="Text 6"/>
          <p:cNvSpPr/>
          <p:nvPr/>
        </p:nvSpPr>
        <p:spPr>
          <a:xfrm>
            <a:off x="7891272" y="6419088"/>
            <a:ext cx="3657600" cy="274320"/>
          </a:xfrm>
          <a:prstGeom prst="rect">
            <a:avLst/>
          </a:prstGeom>
          <a:noFill/>
          <a:ln/>
        </p:spPr>
        <p:txBody>
          <a:bodyPr wrap="square" lIns="0" tIns="0" rIns="0" bIns="0" rtlCol="0" anchor="ctr"/>
          <a:lstStyle/>
          <a:p>
            <a:pPr algn="r" indent="0" marL="0">
              <a:buNone/>
            </a:pPr>
            <a:r>
              <a:rPr lang="en-US" sz="900" spc="100" kern="0" dirty="0">
                <a:solidFill>
                  <a:srgbClr val="A59FB6"/>
                </a:solidFill>
                <a:latin typeface="Calibri" pitchFamily="34" charset="0"/>
                <a:ea typeface="Calibri" pitchFamily="34" charset="-122"/>
                <a:cs typeface="Calibri" pitchFamily="34" charset="-120"/>
              </a:rPr>
              <a:t>Paid Media + Lifecycle</a:t>
            </a:r>
            <a:endParaRPr lang="en-US" sz="900" dirty="0"/>
          </a:p>
        </p:txBody>
      </p:sp>
      <p:graphicFrame>
        <p:nvGraphicFramePr>
          <p:cNvPr id="10" name="Table 9"/>
          <p:cNvGraphicFramePr>
            <a:graphicFrameLocks noGrp="1"/>
          </p:cNvGraphicFramePr>
          <p:nvPr/>
        </p:nvGraphicFramePr>
        <p:xfrm>
          <a:off x="640080" y="1828800"/>
          <a:ext cx="10908792" cy="2825496"/>
        </p:xfrm>
        <a:graphic>
          <a:graphicData uri="http://schemas.openxmlformats.org/drawingml/2006/table">
            <a:tbl>
              <a:tblPr>
                <a:tableStyleId>{5C22544A-7EE6-4342-B048-85BDC9FD1C3A}</a:tableStyleId>
              </a:tblPr>
              <a:tblGrid>
                <a:gridCol w="4937760"/>
                <a:gridCol w="5971032"/>
              </a:tblGrid>
              <a:tr h="310896">
                <a:tc>
                  <a:txBody>
                    <a:bodyPr wrap="square"/>
                    <a:lstStyle/>
                    <a:p>
                      <a:r>
                        <a:rPr sz="1000" b="1">
                          <a:solidFill>
                            <a:srgbClr val="FFFFFF"/>
                          </a:solidFill>
                          <a:latin typeface="Calibri"/>
                        </a:rPr>
                        <a:t>Path</a:t>
                      </a:r>
                    </a:p>
                  </a:txBody>
                  <a:tcPr marL="73152" marR="73152" marT="27432" marB="27432" anchor="ctr">
                    <a:solidFill>
                      <a:srgbClr val="2F1E4A"/>
                    </a:solidFill>
                  </a:tcPr>
                </a:tc>
                <a:tc>
                  <a:txBody>
                    <a:bodyPr wrap="square"/>
                    <a:lstStyle/>
                    <a:p>
                      <a:r>
                        <a:rPr sz="1000" b="1">
                          <a:solidFill>
                            <a:srgbClr val="FFFFFF"/>
                          </a:solidFill>
                          <a:latin typeface="Calibri"/>
                        </a:rPr>
                        <a:t>Who it is for</a:t>
                      </a:r>
                    </a:p>
                  </a:txBody>
                  <a:tcPr marL="73152" marR="73152" marT="27432" marB="27432" anchor="ctr">
                    <a:solidFill>
                      <a:srgbClr val="2F1E4A"/>
                    </a:solidFill>
                  </a:tcPr>
                </a:tc>
              </a:tr>
              <a:tr h="502920">
                <a:tc>
                  <a:txBody>
                    <a:bodyPr wrap="square"/>
                    <a:lstStyle/>
                    <a:p>
                      <a:r>
                        <a:rPr sz="1100" b="1">
                          <a:solidFill>
                            <a:srgbClr val="2F1E4A"/>
                          </a:solidFill>
                          <a:latin typeface="Calibri"/>
                        </a:rPr>
                        <a:t>Book a demo (primary)</a:t>
                      </a:r>
                    </a:p>
                  </a:txBody>
                  <a:tcPr marL="73152" marR="73152" marT="27432" marB="27432" anchor="ctr">
                    <a:noFill/>
                  </a:tcPr>
                </a:tc>
                <a:tc>
                  <a:txBody>
                    <a:bodyPr wrap="square"/>
                    <a:lstStyle/>
                    <a:p>
                      <a:r>
                        <a:rPr sz="1100" b="0">
                          <a:solidFill>
                            <a:srgbClr val="3C3550"/>
                          </a:solidFill>
                          <a:latin typeface="Calibri"/>
                        </a:rPr>
                        <a:t>Buyers ready to talk to sales</a:t>
                      </a:r>
                    </a:p>
                  </a:txBody>
                  <a:tcPr marL="73152" marR="73152" marT="27432" marB="27432" anchor="ctr">
                    <a:noFill/>
                  </a:tcPr>
                </a:tc>
              </a:tr>
              <a:tr h="502920">
                <a:tc>
                  <a:txBody>
                    <a:bodyPr wrap="square"/>
                    <a:lstStyle/>
                    <a:p>
                      <a:r>
                        <a:rPr sz="1100" b="1">
                          <a:solidFill>
                            <a:srgbClr val="2F1E4A"/>
                          </a:solidFill>
                          <a:latin typeface="Calibri"/>
                        </a:rPr>
                        <a:t>ROI or savings simulator</a:t>
                      </a:r>
                    </a:p>
                  </a:txBody>
                  <a:tcPr marL="73152" marR="73152" marT="27432" marB="27432" anchor="ctr">
                    <a:solidFill>
                      <a:srgbClr val="F4F2F8"/>
                    </a:solidFill>
                  </a:tcPr>
                </a:tc>
                <a:tc>
                  <a:txBody>
                    <a:bodyPr wrap="square"/>
                    <a:lstStyle/>
                    <a:p>
                      <a:r>
                        <a:rPr sz="1100" b="0">
                          <a:solidFill>
                            <a:srgbClr val="3C3550"/>
                          </a:solidFill>
                          <a:latin typeface="Calibri"/>
                        </a:rPr>
                        <a:t>Buyers who want proof of value before a call</a:t>
                      </a:r>
                    </a:p>
                  </a:txBody>
                  <a:tcPr marL="73152" marR="73152" marT="27432" marB="27432" anchor="ctr">
                    <a:solidFill>
                      <a:srgbClr val="F4F2F8"/>
                    </a:solidFill>
                  </a:tcPr>
                </a:tc>
              </a:tr>
              <a:tr h="502920">
                <a:tc>
                  <a:txBody>
                    <a:bodyPr wrap="square"/>
                    <a:lstStyle/>
                    <a:p>
                      <a:r>
                        <a:rPr sz="1100" b="1">
                          <a:solidFill>
                            <a:srgbClr val="2F1E4A"/>
                          </a:solidFill>
                          <a:latin typeface="Calibri"/>
                        </a:rPr>
                        <a:t>Gated content (ebook, whitepaper, research)</a:t>
                      </a:r>
                    </a:p>
                  </a:txBody>
                  <a:tcPr marL="73152" marR="73152" marT="27432" marB="27432" anchor="ctr">
                    <a:noFill/>
                  </a:tcPr>
                </a:tc>
                <a:tc>
                  <a:txBody>
                    <a:bodyPr wrap="square"/>
                    <a:lstStyle/>
                    <a:p>
                      <a:r>
                        <a:rPr sz="1100" b="0">
                          <a:solidFill>
                            <a:srgbClr val="3C3550"/>
                          </a:solidFill>
                          <a:latin typeface="Calibri"/>
                        </a:rPr>
                        <a:t>Early-stage buyers researching the problem</a:t>
                      </a:r>
                    </a:p>
                  </a:txBody>
                  <a:tcPr marL="73152" marR="73152" marT="27432" marB="27432" anchor="ctr">
                    <a:noFill/>
                  </a:tcPr>
                </a:tc>
              </a:tr>
              <a:tr h="502920">
                <a:tc>
                  <a:txBody>
                    <a:bodyPr wrap="square"/>
                    <a:lstStyle/>
                    <a:p>
                      <a:r>
                        <a:rPr sz="1100" b="1">
                          <a:solidFill>
                            <a:srgbClr val="2F1E4A"/>
                          </a:solidFill>
                          <a:latin typeface="Calibri"/>
                        </a:rPr>
                        <a:t>PDF brochure download</a:t>
                      </a:r>
                    </a:p>
                  </a:txBody>
                  <a:tcPr marL="73152" marR="73152" marT="27432" marB="27432" anchor="ctr">
                    <a:solidFill>
                      <a:srgbClr val="F4F2F8"/>
                    </a:solidFill>
                  </a:tcPr>
                </a:tc>
                <a:tc>
                  <a:txBody>
                    <a:bodyPr wrap="square"/>
                    <a:lstStyle/>
                    <a:p>
                      <a:r>
                        <a:rPr sz="1100" b="0">
                          <a:solidFill>
                            <a:srgbClr val="3C3550"/>
                          </a:solidFill>
                          <a:latin typeface="Calibri"/>
                        </a:rPr>
                        <a:t>Buyers who want detail without a call</a:t>
                      </a:r>
                    </a:p>
                  </a:txBody>
                  <a:tcPr marL="73152" marR="73152" marT="27432" marB="27432" anchor="ctr">
                    <a:solidFill>
                      <a:srgbClr val="F4F2F8"/>
                    </a:solidFill>
                  </a:tcPr>
                </a:tc>
              </a:tr>
              <a:tr h="502920">
                <a:tc>
                  <a:txBody>
                    <a:bodyPr wrap="square"/>
                    <a:lstStyle/>
                    <a:p>
                      <a:r>
                        <a:rPr sz="1100" b="1">
                          <a:solidFill>
                            <a:srgbClr val="2F1E4A"/>
                          </a:solidFill>
                          <a:latin typeface="Calibri"/>
                        </a:rPr>
                        <a:t>Request a quote</a:t>
                      </a:r>
                    </a:p>
                  </a:txBody>
                  <a:tcPr marL="73152" marR="73152" marT="27432" marB="27432" anchor="ctr">
                    <a:noFill/>
                  </a:tcPr>
                </a:tc>
                <a:tc>
                  <a:txBody>
                    <a:bodyPr wrap="square"/>
                    <a:lstStyle/>
                    <a:p>
                      <a:r>
                        <a:rPr sz="1100" b="0">
                          <a:solidFill>
                            <a:srgbClr val="3C3550"/>
                          </a:solidFill>
                          <a:latin typeface="Calibri"/>
                        </a:rPr>
                        <a:t>Buyers price-checking, closer to a decision</a:t>
                      </a:r>
                    </a:p>
                  </a:txBody>
                  <a:tcPr marL="73152" marR="73152" marT="27432" marB="27432" anchor="ctr">
                    <a:noFill/>
                  </a:tcPr>
                </a:tc>
              </a:tr>
            </a:tbl>
          </a:graphicData>
        </a:graphic>
      </p:graphicFrame>
      <p:sp>
        <p:nvSpPr>
          <p:cNvPr id="11" name="TextBox 10"/>
          <p:cNvSpPr txBox="1"/>
          <p:nvPr/>
        </p:nvSpPr>
        <p:spPr>
          <a:xfrm>
            <a:off x="640080" y="5486400"/>
            <a:ext cx="10908792" cy="365760"/>
          </a:xfrm>
          <a:prstGeom prst="rect">
            <a:avLst/>
          </a:prstGeom>
          <a:noFill/>
        </p:spPr>
        <p:txBody>
          <a:bodyPr wrap="none">
            <a:spAutoFit/>
          </a:bodyPr>
          <a:lstStyle/>
          <a:p>
            <a:r>
              <a:rPr sz="1100" b="1">
                <a:solidFill>
                  <a:srgbClr val="C23058"/>
                </a:solidFill>
                <a:latin typeface="Calibri"/>
              </a:rPr>
              <a:t>Demo stays primary. The alternatives feed nurture, scored lower, each tracked.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Paid Media Forward Strategy v9</dc:title>
  <dc:subject>PptxGenJS Presentation</dc:subject>
  <dc:creator>Adrian Fernandez</dc:creator>
  <cp:lastModifiedBy>Adrian Fernandez</cp:lastModifiedBy>
  <cp:revision>1</cp:revision>
  <dcterms:created xsi:type="dcterms:W3CDTF">2026-05-29T10:02:38Z</dcterms:created>
  <dcterms:modified xsi:type="dcterms:W3CDTF">2026-05-29T10:02:38Z</dcterms:modified>
</cp:coreProperties>
</file>